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005840"/>
            <a:ext cx="10515600" cy="1645920"/>
          </a:xfrm>
          <a:prstGeom prst="rect">
            <a:avLst/>
          </a:prstGeom>
          <a:noFill/>
        </p:spPr>
        <p:txBody>
          <a:bodyPr wrap="none">
            <a:spAutoFit/>
          </a:bodyPr>
          <a:lstStyle/>
          <a:p>
            <a:pPr>
              <a:defRPr sz="4400" b="1">
                <a:solidFill>
                  <a:srgbClr val="FFFFFF"/>
                </a:solidFill>
              </a:defRPr>
            </a:pPr>
            <a:r>
              <a:t>AI Campaign Studio</a:t>
            </a:r>
          </a:p>
        </p:txBody>
      </p:sp>
      <p:sp>
        <p:nvSpPr>
          <p:cNvPr id="4" name="TextBox 3"/>
          <p:cNvSpPr txBox="1"/>
          <p:nvPr/>
        </p:nvSpPr>
        <p:spPr>
          <a:xfrm>
            <a:off x="822960" y="2743200"/>
            <a:ext cx="10058400" cy="914400"/>
          </a:xfrm>
          <a:prstGeom prst="rect">
            <a:avLst/>
          </a:prstGeom>
          <a:noFill/>
        </p:spPr>
        <p:txBody>
          <a:bodyPr wrap="none">
            <a:spAutoFit/>
          </a:bodyPr>
          <a:lstStyle/>
          <a:p>
            <a:pPr>
              <a:defRPr sz="2200">
                <a:solidFill>
                  <a:srgbClr val="CBD5E1"/>
                </a:solidFill>
              </a:defRPr>
            </a:pPr>
            <a:r>
              <a:t>Full-Stack Project Presentation + Interview Preparation</a:t>
            </a:r>
          </a:p>
        </p:txBody>
      </p:sp>
      <p:sp>
        <p:nvSpPr>
          <p:cNvPr id="5" name="TextBox 4"/>
          <p:cNvSpPr txBox="1"/>
          <p:nvPr/>
        </p:nvSpPr>
        <p:spPr>
          <a:xfrm>
            <a:off x="822960" y="4114800"/>
            <a:ext cx="10058400" cy="640080"/>
          </a:xfrm>
          <a:prstGeom prst="rect">
            <a:avLst/>
          </a:prstGeom>
          <a:noFill/>
        </p:spPr>
        <p:txBody>
          <a:bodyPr wrap="none">
            <a:spAutoFit/>
          </a:bodyPr>
          <a:lstStyle/>
          <a:p>
            <a:pPr>
              <a:defRPr sz="1500">
                <a:solidFill>
                  <a:srgbClr val="A5B4FC"/>
                </a:solidFill>
              </a:defRPr>
            </a:pPr>
            <a:r>
              <a:t>Next.js • React • TypeScript • Prisma • PostgreSQL • AI • REST APIs</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058400" cy="914400"/>
          </a:xfrm>
          <a:prstGeom prst="rect">
            <a:avLst/>
          </a:prstGeom>
          <a:noFill/>
        </p:spPr>
        <p:txBody>
          <a:bodyPr wrap="none">
            <a:spAutoFit/>
          </a:bodyPr>
          <a:lstStyle/>
          <a:p>
            <a:pPr>
              <a:defRPr sz="3600" b="1">
                <a:solidFill>
                  <a:srgbClr val="FFFFFF"/>
                </a:solidFill>
              </a:defRPr>
            </a:pPr>
            <a:r>
              <a:t>PART 1</a:t>
            </a:r>
          </a:p>
        </p:txBody>
      </p:sp>
      <p:sp>
        <p:nvSpPr>
          <p:cNvPr id="4" name="TextBox 3"/>
          <p:cNvSpPr txBox="1"/>
          <p:nvPr/>
        </p:nvSpPr>
        <p:spPr>
          <a:xfrm>
            <a:off x="914400" y="2743200"/>
            <a:ext cx="9601200" cy="914400"/>
          </a:xfrm>
          <a:prstGeom prst="rect">
            <a:avLst/>
          </a:prstGeom>
          <a:noFill/>
        </p:spPr>
        <p:txBody>
          <a:bodyPr wrap="none">
            <a:spAutoFit/>
          </a:bodyPr>
          <a:lstStyle/>
          <a:p>
            <a:pPr>
              <a:defRPr sz="1800">
                <a:solidFill>
                  <a:srgbClr val="CBD5E1"/>
                </a:solidFill>
              </a:defRPr>
            </a:pPr>
            <a:r>
              <a:t>Project story and presentation</a:t>
            </a:r>
          </a:p>
        </p:txBody>
      </p:sp>
      <p:sp>
        <p:nvSpPr>
          <p:cNvPr id="5" name="TextBox 4"/>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Project Story</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Project overview</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3</a:t>
            </a:r>
          </a:p>
        </p:txBody>
      </p:sp>
      <p:sp>
        <p:nvSpPr>
          <p:cNvPr id="7" name="Rounded Rectangle 6"/>
          <p:cNvSpPr/>
          <p:nvPr/>
        </p:nvSpPr>
        <p:spPr>
          <a:xfrm>
            <a:off x="777240" y="1828800"/>
            <a:ext cx="672084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2402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6309359" cy="365760"/>
          </a:xfrm>
          <a:prstGeom prst="rect">
            <a:avLst/>
          </a:prstGeom>
          <a:noFill/>
        </p:spPr>
        <p:txBody>
          <a:bodyPr wrap="none">
            <a:spAutoFit/>
          </a:bodyPr>
          <a:lstStyle/>
          <a:p>
            <a:pPr>
              <a:defRPr sz="1500" b="1">
                <a:solidFill>
                  <a:srgbClr val="0F172A"/>
                </a:solidFill>
              </a:defRPr>
            </a:pPr>
            <a:r>
              <a:t>Core explanation</a:t>
            </a:r>
          </a:p>
        </p:txBody>
      </p:sp>
      <p:sp>
        <p:nvSpPr>
          <p:cNvPr id="10" name="TextBox 9"/>
          <p:cNvSpPr txBox="1"/>
          <p:nvPr/>
        </p:nvSpPr>
        <p:spPr>
          <a:xfrm>
            <a:off x="1005840" y="2450592"/>
            <a:ext cx="6309359" cy="1463040"/>
          </a:xfrm>
          <a:prstGeom prst="rect">
            <a:avLst/>
          </a:prstGeom>
          <a:noFill/>
        </p:spPr>
        <p:txBody>
          <a:bodyPr wrap="square">
            <a:spAutoFit/>
          </a:bodyPr>
          <a:lstStyle/>
          <a:p>
            <a:pPr>
              <a:defRPr sz="1400">
                <a:solidFill>
                  <a:srgbClr val="475569"/>
                </a:solidFill>
              </a:defRPr>
            </a:pPr>
            <a:r>
              <a:t>AI Campaign Studio is a full-stack marketing platform for campaign management, AI-assisted content generation, campaign-specific landing pages, lead capture and analytics.</a:t>
            </a:r>
          </a:p>
        </p:txBody>
      </p:sp>
      <p:sp>
        <p:nvSpPr>
          <p:cNvPr id="11" name="Rounded Rectangle 10"/>
          <p:cNvSpPr/>
          <p:nvPr/>
        </p:nvSpPr>
        <p:spPr>
          <a:xfrm>
            <a:off x="7818120" y="1828800"/>
            <a:ext cx="356616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18120" y="1828800"/>
            <a:ext cx="64008" cy="2240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993392"/>
            <a:ext cx="3154679" cy="365760"/>
          </a:xfrm>
          <a:prstGeom prst="rect">
            <a:avLst/>
          </a:prstGeom>
          <a:noFill/>
        </p:spPr>
        <p:txBody>
          <a:bodyPr wrap="none">
            <a:spAutoFit/>
          </a:bodyPr>
          <a:lstStyle/>
          <a:p>
            <a:pPr>
              <a:defRPr sz="1500" b="1">
                <a:solidFill>
                  <a:srgbClr val="0F172A"/>
                </a:solidFill>
              </a:defRPr>
            </a:pPr>
            <a:r>
              <a:t>Interview angle</a:t>
            </a:r>
          </a:p>
        </p:txBody>
      </p:sp>
      <p:sp>
        <p:nvSpPr>
          <p:cNvPr id="14" name="TextBox 13"/>
          <p:cNvSpPr txBox="1"/>
          <p:nvPr/>
        </p:nvSpPr>
        <p:spPr>
          <a:xfrm>
            <a:off x="8046720" y="2450592"/>
            <a:ext cx="3154679" cy="1463040"/>
          </a:xfrm>
          <a:prstGeom prst="rect">
            <a:avLst/>
          </a:prstGeom>
          <a:noFill/>
        </p:spPr>
        <p:txBody>
          <a:bodyPr wrap="square">
            <a:spAutoFit/>
          </a:bodyPr>
          <a:lstStyle/>
          <a:p>
            <a:pPr>
              <a:defRPr sz="1200">
                <a:solidFill>
                  <a:srgbClr val="475569"/>
                </a:solidFill>
              </a:defRPr>
            </a:pPr>
            <a:r>
              <a:t>Present the project as one end-to-end workflow, not just a dashboard.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Project Story</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Problem statement</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4</a:t>
            </a:r>
          </a:p>
        </p:txBody>
      </p:sp>
      <p:sp>
        <p:nvSpPr>
          <p:cNvPr id="7" name="Rounded Rectangle 6"/>
          <p:cNvSpPr/>
          <p:nvPr/>
        </p:nvSpPr>
        <p:spPr>
          <a:xfrm>
            <a:off x="777240" y="1828800"/>
            <a:ext cx="672084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2402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6309359" cy="365760"/>
          </a:xfrm>
          <a:prstGeom prst="rect">
            <a:avLst/>
          </a:prstGeom>
          <a:noFill/>
        </p:spPr>
        <p:txBody>
          <a:bodyPr wrap="none">
            <a:spAutoFit/>
          </a:bodyPr>
          <a:lstStyle/>
          <a:p>
            <a:pPr>
              <a:defRPr sz="1500" b="1">
                <a:solidFill>
                  <a:srgbClr val="0F172A"/>
                </a:solidFill>
              </a:defRPr>
            </a:pPr>
            <a:r>
              <a:t>Core explanation</a:t>
            </a:r>
          </a:p>
        </p:txBody>
      </p:sp>
      <p:sp>
        <p:nvSpPr>
          <p:cNvPr id="10" name="TextBox 9"/>
          <p:cNvSpPr txBox="1"/>
          <p:nvPr/>
        </p:nvSpPr>
        <p:spPr>
          <a:xfrm>
            <a:off x="1005840" y="2450592"/>
            <a:ext cx="6309359" cy="1463040"/>
          </a:xfrm>
          <a:prstGeom prst="rect">
            <a:avLst/>
          </a:prstGeom>
          <a:noFill/>
        </p:spPr>
        <p:txBody>
          <a:bodyPr wrap="square">
            <a:spAutoFit/>
          </a:bodyPr>
          <a:lstStyle/>
          <a:p>
            <a:pPr>
              <a:defRPr sz="1400">
                <a:solidFill>
                  <a:srgbClr val="475569"/>
                </a:solidFill>
              </a:defRPr>
            </a:pPr>
            <a:r>
              <a:t>Marketing teams repeat content creation and often separate campaign publishing from lead tracking. The project connects these tasks in one application.</a:t>
            </a:r>
          </a:p>
        </p:txBody>
      </p:sp>
      <p:sp>
        <p:nvSpPr>
          <p:cNvPr id="11" name="Rounded Rectangle 10"/>
          <p:cNvSpPr/>
          <p:nvPr/>
        </p:nvSpPr>
        <p:spPr>
          <a:xfrm>
            <a:off x="7818120" y="1828800"/>
            <a:ext cx="356616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18120" y="1828800"/>
            <a:ext cx="64008" cy="2240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993392"/>
            <a:ext cx="3154679" cy="365760"/>
          </a:xfrm>
          <a:prstGeom prst="rect">
            <a:avLst/>
          </a:prstGeom>
          <a:noFill/>
        </p:spPr>
        <p:txBody>
          <a:bodyPr wrap="none">
            <a:spAutoFit/>
          </a:bodyPr>
          <a:lstStyle/>
          <a:p>
            <a:pPr>
              <a:defRPr sz="1500" b="1">
                <a:solidFill>
                  <a:srgbClr val="0F172A"/>
                </a:solidFill>
              </a:defRPr>
            </a:pPr>
            <a:r>
              <a:t>Interview angle</a:t>
            </a:r>
          </a:p>
        </p:txBody>
      </p:sp>
      <p:sp>
        <p:nvSpPr>
          <p:cNvPr id="14" name="TextBox 13"/>
          <p:cNvSpPr txBox="1"/>
          <p:nvPr/>
        </p:nvSpPr>
        <p:spPr>
          <a:xfrm>
            <a:off x="8046720" y="2450592"/>
            <a:ext cx="3154679" cy="1463040"/>
          </a:xfrm>
          <a:prstGeom prst="rect">
            <a:avLst/>
          </a:prstGeom>
          <a:noFill/>
        </p:spPr>
        <p:txBody>
          <a:bodyPr wrap="square">
            <a:spAutoFit/>
          </a:bodyPr>
          <a:lstStyle/>
          <a:p>
            <a:pPr>
              <a:defRPr sz="1200">
                <a:solidFill>
                  <a:srgbClr val="475569"/>
                </a:solidFill>
              </a:defRPr>
            </a:pPr>
            <a:r>
              <a:t>Focus on the business problem before the technology.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Project Story</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Project goals</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5</a:t>
            </a:r>
          </a:p>
        </p:txBody>
      </p:sp>
      <p:sp>
        <p:nvSpPr>
          <p:cNvPr id="7" name="Rounded Rectangle 6"/>
          <p:cNvSpPr/>
          <p:nvPr/>
        </p:nvSpPr>
        <p:spPr>
          <a:xfrm>
            <a:off x="777240" y="1828800"/>
            <a:ext cx="672084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2402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6309359" cy="365760"/>
          </a:xfrm>
          <a:prstGeom prst="rect">
            <a:avLst/>
          </a:prstGeom>
          <a:noFill/>
        </p:spPr>
        <p:txBody>
          <a:bodyPr wrap="none">
            <a:spAutoFit/>
          </a:bodyPr>
          <a:lstStyle/>
          <a:p>
            <a:pPr>
              <a:defRPr sz="1500" b="1">
                <a:solidFill>
                  <a:srgbClr val="0F172A"/>
                </a:solidFill>
              </a:defRPr>
            </a:pPr>
            <a:r>
              <a:t>Core explanation</a:t>
            </a:r>
          </a:p>
        </p:txBody>
      </p:sp>
      <p:sp>
        <p:nvSpPr>
          <p:cNvPr id="10" name="TextBox 9"/>
          <p:cNvSpPr txBox="1"/>
          <p:nvPr/>
        </p:nvSpPr>
        <p:spPr>
          <a:xfrm>
            <a:off x="1005840" y="2450592"/>
            <a:ext cx="6309359" cy="1463040"/>
          </a:xfrm>
          <a:prstGeom prst="rect">
            <a:avLst/>
          </a:prstGeom>
          <a:noFill/>
        </p:spPr>
        <p:txBody>
          <a:bodyPr wrap="square">
            <a:spAutoFit/>
          </a:bodyPr>
          <a:lstStyle/>
          <a:p>
            <a:pPr>
              <a:defRPr sz="1400">
                <a:solidFill>
                  <a:srgbClr val="475569"/>
                </a:solidFill>
              </a:defRPr>
            </a:pPr>
            <a:r>
              <a:t>Secure user accounts; campaign CRUD; AI content generation; dynamic landing pages; lead capture; analytics events; usable dashboard.</a:t>
            </a:r>
          </a:p>
        </p:txBody>
      </p:sp>
      <p:sp>
        <p:nvSpPr>
          <p:cNvPr id="11" name="Rounded Rectangle 10"/>
          <p:cNvSpPr/>
          <p:nvPr/>
        </p:nvSpPr>
        <p:spPr>
          <a:xfrm>
            <a:off x="7818120" y="1828800"/>
            <a:ext cx="356616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18120" y="1828800"/>
            <a:ext cx="64008" cy="2240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993392"/>
            <a:ext cx="3154679" cy="365760"/>
          </a:xfrm>
          <a:prstGeom prst="rect">
            <a:avLst/>
          </a:prstGeom>
          <a:noFill/>
        </p:spPr>
        <p:txBody>
          <a:bodyPr wrap="none">
            <a:spAutoFit/>
          </a:bodyPr>
          <a:lstStyle/>
          <a:p>
            <a:pPr>
              <a:defRPr sz="1500" b="1">
                <a:solidFill>
                  <a:srgbClr val="0F172A"/>
                </a:solidFill>
              </a:defRPr>
            </a:pPr>
            <a:r>
              <a:t>Interview angle</a:t>
            </a:r>
          </a:p>
        </p:txBody>
      </p:sp>
      <p:sp>
        <p:nvSpPr>
          <p:cNvPr id="14" name="TextBox 13"/>
          <p:cNvSpPr txBox="1"/>
          <p:nvPr/>
        </p:nvSpPr>
        <p:spPr>
          <a:xfrm>
            <a:off x="8046720" y="2450592"/>
            <a:ext cx="3154679" cy="1463040"/>
          </a:xfrm>
          <a:prstGeom prst="rect">
            <a:avLst/>
          </a:prstGeom>
          <a:noFill/>
        </p:spPr>
        <p:txBody>
          <a:bodyPr wrap="square">
            <a:spAutoFit/>
          </a:bodyPr>
          <a:lstStyle/>
          <a:p>
            <a:pPr>
              <a:defRPr sz="1200">
                <a:solidFill>
                  <a:srgbClr val="475569"/>
                </a:solidFill>
              </a:defRPr>
            </a:pPr>
            <a:r>
              <a:t>Mention the outcome: one workflow from campaign creation to measurable conversion.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Project Story</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Target workflow</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6</a:t>
            </a:r>
          </a:p>
        </p:txBody>
      </p:sp>
      <p:sp>
        <p:nvSpPr>
          <p:cNvPr id="7" name="Rounded Rectangle 6"/>
          <p:cNvSpPr/>
          <p:nvPr/>
        </p:nvSpPr>
        <p:spPr>
          <a:xfrm>
            <a:off x="777240" y="1828800"/>
            <a:ext cx="672084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2402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6309359" cy="365760"/>
          </a:xfrm>
          <a:prstGeom prst="rect">
            <a:avLst/>
          </a:prstGeom>
          <a:noFill/>
        </p:spPr>
        <p:txBody>
          <a:bodyPr wrap="none">
            <a:spAutoFit/>
          </a:bodyPr>
          <a:lstStyle/>
          <a:p>
            <a:pPr>
              <a:defRPr sz="1500" b="1">
                <a:solidFill>
                  <a:srgbClr val="0F172A"/>
                </a:solidFill>
              </a:defRPr>
            </a:pPr>
            <a:r>
              <a:t>Core explanation</a:t>
            </a:r>
          </a:p>
        </p:txBody>
      </p:sp>
      <p:sp>
        <p:nvSpPr>
          <p:cNvPr id="10" name="TextBox 9"/>
          <p:cNvSpPr txBox="1"/>
          <p:nvPr/>
        </p:nvSpPr>
        <p:spPr>
          <a:xfrm>
            <a:off x="1005840" y="2450592"/>
            <a:ext cx="6309359" cy="1463040"/>
          </a:xfrm>
          <a:prstGeom prst="rect">
            <a:avLst/>
          </a:prstGeom>
          <a:noFill/>
        </p:spPr>
        <p:txBody>
          <a:bodyPr wrap="square">
            <a:spAutoFit/>
          </a:bodyPr>
          <a:lstStyle/>
          <a:p>
            <a:pPr>
              <a:defRPr sz="1400">
                <a:solidFill>
                  <a:srgbClr val="475569"/>
                </a:solidFill>
              </a:defRPr>
            </a:pPr>
            <a:r>
              <a:t>Login → create campaign → generate AI content → open landing page → CTA → lead form → store lead + analytics event → review dashboard data.</a:t>
            </a:r>
          </a:p>
        </p:txBody>
      </p:sp>
      <p:sp>
        <p:nvSpPr>
          <p:cNvPr id="11" name="Rounded Rectangle 10"/>
          <p:cNvSpPr/>
          <p:nvPr/>
        </p:nvSpPr>
        <p:spPr>
          <a:xfrm>
            <a:off x="7818120" y="1828800"/>
            <a:ext cx="356616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18120" y="1828800"/>
            <a:ext cx="64008" cy="2240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993392"/>
            <a:ext cx="3154679" cy="365760"/>
          </a:xfrm>
          <a:prstGeom prst="rect">
            <a:avLst/>
          </a:prstGeom>
          <a:noFill/>
        </p:spPr>
        <p:txBody>
          <a:bodyPr wrap="none">
            <a:spAutoFit/>
          </a:bodyPr>
          <a:lstStyle/>
          <a:p>
            <a:pPr>
              <a:defRPr sz="1500" b="1">
                <a:solidFill>
                  <a:srgbClr val="0F172A"/>
                </a:solidFill>
              </a:defRPr>
            </a:pPr>
            <a:r>
              <a:t>Interview angle</a:t>
            </a:r>
          </a:p>
        </p:txBody>
      </p:sp>
      <p:sp>
        <p:nvSpPr>
          <p:cNvPr id="14" name="TextBox 13"/>
          <p:cNvSpPr txBox="1"/>
          <p:nvPr/>
        </p:nvSpPr>
        <p:spPr>
          <a:xfrm>
            <a:off x="8046720" y="2450592"/>
            <a:ext cx="3154679" cy="1463040"/>
          </a:xfrm>
          <a:prstGeom prst="rect">
            <a:avLst/>
          </a:prstGeom>
          <a:noFill/>
        </p:spPr>
        <p:txBody>
          <a:bodyPr wrap="square">
            <a:spAutoFit/>
          </a:bodyPr>
          <a:lstStyle/>
          <a:p>
            <a:pPr>
              <a:defRPr sz="1200">
                <a:solidFill>
                  <a:srgbClr val="475569"/>
                </a:solidFill>
              </a:defRPr>
            </a:pPr>
            <a:r>
              <a:t>This is the single most important flow to memorize.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Project Story</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Tech stack</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7</a:t>
            </a:r>
          </a:p>
        </p:txBody>
      </p:sp>
      <p:sp>
        <p:nvSpPr>
          <p:cNvPr id="7" name="Rounded Rectangle 6"/>
          <p:cNvSpPr/>
          <p:nvPr/>
        </p:nvSpPr>
        <p:spPr>
          <a:xfrm>
            <a:off x="777240" y="1828800"/>
            <a:ext cx="672084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2402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6309359" cy="365760"/>
          </a:xfrm>
          <a:prstGeom prst="rect">
            <a:avLst/>
          </a:prstGeom>
          <a:noFill/>
        </p:spPr>
        <p:txBody>
          <a:bodyPr wrap="none">
            <a:spAutoFit/>
          </a:bodyPr>
          <a:lstStyle/>
          <a:p>
            <a:pPr>
              <a:defRPr sz="1500" b="1">
                <a:solidFill>
                  <a:srgbClr val="0F172A"/>
                </a:solidFill>
              </a:defRPr>
            </a:pPr>
            <a:r>
              <a:t>Core explanation</a:t>
            </a:r>
          </a:p>
        </p:txBody>
      </p:sp>
      <p:sp>
        <p:nvSpPr>
          <p:cNvPr id="10" name="TextBox 9"/>
          <p:cNvSpPr txBox="1"/>
          <p:nvPr/>
        </p:nvSpPr>
        <p:spPr>
          <a:xfrm>
            <a:off x="1005840" y="2450592"/>
            <a:ext cx="6309359" cy="1463040"/>
          </a:xfrm>
          <a:prstGeom prst="rect">
            <a:avLst/>
          </a:prstGeom>
          <a:noFill/>
        </p:spPr>
        <p:txBody>
          <a:bodyPr wrap="square">
            <a:spAutoFit/>
          </a:bodyPr>
          <a:lstStyle/>
          <a:p>
            <a:pPr>
              <a:defRPr sz="1400">
                <a:solidFill>
                  <a:srgbClr val="475569"/>
                </a:solidFill>
              </a:defRPr>
            </a:pPr>
            <a:r>
              <a:t>Frontend: Next.js, React, TypeScript, Tailwind/shadcn UI. Backend: Next.js route handlers. Data: Prisma + PostgreSQL. Validation: Zod. AI: Gemini integration.</a:t>
            </a:r>
          </a:p>
        </p:txBody>
      </p:sp>
      <p:sp>
        <p:nvSpPr>
          <p:cNvPr id="11" name="Rounded Rectangle 10"/>
          <p:cNvSpPr/>
          <p:nvPr/>
        </p:nvSpPr>
        <p:spPr>
          <a:xfrm>
            <a:off x="7818120" y="1828800"/>
            <a:ext cx="356616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18120" y="1828800"/>
            <a:ext cx="64008" cy="2240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993392"/>
            <a:ext cx="3154679" cy="365760"/>
          </a:xfrm>
          <a:prstGeom prst="rect">
            <a:avLst/>
          </a:prstGeom>
          <a:noFill/>
        </p:spPr>
        <p:txBody>
          <a:bodyPr wrap="none">
            <a:spAutoFit/>
          </a:bodyPr>
          <a:lstStyle/>
          <a:p>
            <a:pPr>
              <a:defRPr sz="1500" b="1">
                <a:solidFill>
                  <a:srgbClr val="0F172A"/>
                </a:solidFill>
              </a:defRPr>
            </a:pPr>
            <a:r>
              <a:t>Interview angle</a:t>
            </a:r>
          </a:p>
        </p:txBody>
      </p:sp>
      <p:sp>
        <p:nvSpPr>
          <p:cNvPr id="14" name="TextBox 13"/>
          <p:cNvSpPr txBox="1"/>
          <p:nvPr/>
        </p:nvSpPr>
        <p:spPr>
          <a:xfrm>
            <a:off x="8046720" y="2450592"/>
            <a:ext cx="3154679" cy="1463040"/>
          </a:xfrm>
          <a:prstGeom prst="rect">
            <a:avLst/>
          </a:prstGeom>
          <a:noFill/>
        </p:spPr>
        <p:txBody>
          <a:bodyPr wrap="square">
            <a:spAutoFit/>
          </a:bodyPr>
          <a:lstStyle/>
          <a:p>
            <a:pPr>
              <a:defRPr sz="1200">
                <a:solidFill>
                  <a:srgbClr val="475569"/>
                </a:solidFill>
              </a:defRPr>
            </a:pPr>
            <a:r>
              <a:t>Always explain why a technology was chosen, not only what it 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Project Story</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Why Next.js</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8</a:t>
            </a:r>
          </a:p>
        </p:txBody>
      </p:sp>
      <p:sp>
        <p:nvSpPr>
          <p:cNvPr id="7" name="Rounded Rectangle 6"/>
          <p:cNvSpPr/>
          <p:nvPr/>
        </p:nvSpPr>
        <p:spPr>
          <a:xfrm>
            <a:off x="777240" y="1828800"/>
            <a:ext cx="672084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2402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6309359" cy="365760"/>
          </a:xfrm>
          <a:prstGeom prst="rect">
            <a:avLst/>
          </a:prstGeom>
          <a:noFill/>
        </p:spPr>
        <p:txBody>
          <a:bodyPr wrap="none">
            <a:spAutoFit/>
          </a:bodyPr>
          <a:lstStyle/>
          <a:p>
            <a:pPr>
              <a:defRPr sz="1500" b="1">
                <a:solidFill>
                  <a:srgbClr val="0F172A"/>
                </a:solidFill>
              </a:defRPr>
            </a:pPr>
            <a:r>
              <a:t>Core explanation</a:t>
            </a:r>
          </a:p>
        </p:txBody>
      </p:sp>
      <p:sp>
        <p:nvSpPr>
          <p:cNvPr id="10" name="TextBox 9"/>
          <p:cNvSpPr txBox="1"/>
          <p:nvPr/>
        </p:nvSpPr>
        <p:spPr>
          <a:xfrm>
            <a:off x="1005840" y="2450592"/>
            <a:ext cx="6309359" cy="1463040"/>
          </a:xfrm>
          <a:prstGeom prst="rect">
            <a:avLst/>
          </a:prstGeom>
          <a:noFill/>
        </p:spPr>
        <p:txBody>
          <a:bodyPr wrap="square">
            <a:spAutoFit/>
          </a:bodyPr>
          <a:lstStyle/>
          <a:p>
            <a:pPr>
              <a:defRPr sz="1400">
                <a:solidFill>
                  <a:srgbClr val="475569"/>
                </a:solidFill>
              </a:defRPr>
            </a:pPr>
            <a:r>
              <a:t>Frontend and backend can live in one application, with routing and API route handlers available in the same project.</a:t>
            </a:r>
          </a:p>
        </p:txBody>
      </p:sp>
      <p:sp>
        <p:nvSpPr>
          <p:cNvPr id="11" name="Rounded Rectangle 10"/>
          <p:cNvSpPr/>
          <p:nvPr/>
        </p:nvSpPr>
        <p:spPr>
          <a:xfrm>
            <a:off x="7818120" y="1828800"/>
            <a:ext cx="356616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18120" y="1828800"/>
            <a:ext cx="64008" cy="2240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993392"/>
            <a:ext cx="3154679" cy="365760"/>
          </a:xfrm>
          <a:prstGeom prst="rect">
            <a:avLst/>
          </a:prstGeom>
          <a:noFill/>
        </p:spPr>
        <p:txBody>
          <a:bodyPr wrap="none">
            <a:spAutoFit/>
          </a:bodyPr>
          <a:lstStyle/>
          <a:p>
            <a:pPr>
              <a:defRPr sz="1500" b="1">
                <a:solidFill>
                  <a:srgbClr val="0F172A"/>
                </a:solidFill>
              </a:defRPr>
            </a:pPr>
            <a:r>
              <a:t>Interview angle</a:t>
            </a:r>
          </a:p>
        </p:txBody>
      </p:sp>
      <p:sp>
        <p:nvSpPr>
          <p:cNvPr id="14" name="TextBox 13"/>
          <p:cNvSpPr txBox="1"/>
          <p:nvPr/>
        </p:nvSpPr>
        <p:spPr>
          <a:xfrm>
            <a:off x="8046720" y="2450592"/>
            <a:ext cx="3154679" cy="1463040"/>
          </a:xfrm>
          <a:prstGeom prst="rect">
            <a:avLst/>
          </a:prstGeom>
          <a:noFill/>
        </p:spPr>
        <p:txBody>
          <a:bodyPr wrap="square">
            <a:spAutoFit/>
          </a:bodyPr>
          <a:lstStyle/>
          <a:p>
            <a:pPr>
              <a:defRPr sz="1200">
                <a:solidFill>
                  <a:srgbClr val="475569"/>
                </a:solidFill>
              </a:defRPr>
            </a:pPr>
            <a:r>
              <a:t>Say it was a good fit for a compact full-stack application.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Project Story</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Why TypeScript</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9</a:t>
            </a:r>
          </a:p>
        </p:txBody>
      </p:sp>
      <p:sp>
        <p:nvSpPr>
          <p:cNvPr id="7" name="Rounded Rectangle 6"/>
          <p:cNvSpPr/>
          <p:nvPr/>
        </p:nvSpPr>
        <p:spPr>
          <a:xfrm>
            <a:off x="777240" y="1828800"/>
            <a:ext cx="672084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2402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6309359" cy="365760"/>
          </a:xfrm>
          <a:prstGeom prst="rect">
            <a:avLst/>
          </a:prstGeom>
          <a:noFill/>
        </p:spPr>
        <p:txBody>
          <a:bodyPr wrap="none">
            <a:spAutoFit/>
          </a:bodyPr>
          <a:lstStyle/>
          <a:p>
            <a:pPr>
              <a:defRPr sz="1500" b="1">
                <a:solidFill>
                  <a:srgbClr val="0F172A"/>
                </a:solidFill>
              </a:defRPr>
            </a:pPr>
            <a:r>
              <a:t>Core explanation</a:t>
            </a:r>
          </a:p>
        </p:txBody>
      </p:sp>
      <p:sp>
        <p:nvSpPr>
          <p:cNvPr id="10" name="TextBox 9"/>
          <p:cNvSpPr txBox="1"/>
          <p:nvPr/>
        </p:nvSpPr>
        <p:spPr>
          <a:xfrm>
            <a:off x="1005840" y="2450592"/>
            <a:ext cx="6309359" cy="1463040"/>
          </a:xfrm>
          <a:prstGeom prst="rect">
            <a:avLst/>
          </a:prstGeom>
          <a:noFill/>
        </p:spPr>
        <p:txBody>
          <a:bodyPr wrap="square">
            <a:spAutoFit/>
          </a:bodyPr>
          <a:lstStyle/>
          <a:p>
            <a:pPr>
              <a:defRPr sz="1400">
                <a:solidFill>
                  <a:srgbClr val="475569"/>
                </a:solidFill>
              </a:defRPr>
            </a:pPr>
            <a:r>
              <a:t>It makes API/data contracts explicit and catches many field/type mistakes before runtime.</a:t>
            </a:r>
          </a:p>
        </p:txBody>
      </p:sp>
      <p:sp>
        <p:nvSpPr>
          <p:cNvPr id="11" name="Rounded Rectangle 10"/>
          <p:cNvSpPr/>
          <p:nvPr/>
        </p:nvSpPr>
        <p:spPr>
          <a:xfrm>
            <a:off x="7818120" y="1828800"/>
            <a:ext cx="356616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18120" y="1828800"/>
            <a:ext cx="64008" cy="2240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993392"/>
            <a:ext cx="3154679" cy="365760"/>
          </a:xfrm>
          <a:prstGeom prst="rect">
            <a:avLst/>
          </a:prstGeom>
          <a:noFill/>
        </p:spPr>
        <p:txBody>
          <a:bodyPr wrap="none">
            <a:spAutoFit/>
          </a:bodyPr>
          <a:lstStyle/>
          <a:p>
            <a:pPr>
              <a:defRPr sz="1500" b="1">
                <a:solidFill>
                  <a:srgbClr val="0F172A"/>
                </a:solidFill>
              </a:defRPr>
            </a:pPr>
            <a:r>
              <a:t>Interview angle</a:t>
            </a:r>
          </a:p>
        </p:txBody>
      </p:sp>
      <p:sp>
        <p:nvSpPr>
          <p:cNvPr id="14" name="TextBox 13"/>
          <p:cNvSpPr txBox="1"/>
          <p:nvPr/>
        </p:nvSpPr>
        <p:spPr>
          <a:xfrm>
            <a:off x="8046720" y="2450592"/>
            <a:ext cx="3154679" cy="1463040"/>
          </a:xfrm>
          <a:prstGeom prst="rect">
            <a:avLst/>
          </a:prstGeom>
          <a:noFill/>
        </p:spPr>
        <p:txBody>
          <a:bodyPr wrap="square">
            <a:spAutoFit/>
          </a:bodyPr>
          <a:lstStyle/>
          <a:p>
            <a:pPr>
              <a:defRPr sz="1200">
                <a:solidFill>
                  <a:srgbClr val="475569"/>
                </a:solidFill>
              </a:defRPr>
            </a:pPr>
            <a:r>
              <a:t>Connect it to campaign and AI-content objects.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Project Story</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Why PostgreSQL + Prisma</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10</a:t>
            </a:r>
          </a:p>
        </p:txBody>
      </p:sp>
      <p:sp>
        <p:nvSpPr>
          <p:cNvPr id="7" name="Rounded Rectangle 6"/>
          <p:cNvSpPr/>
          <p:nvPr/>
        </p:nvSpPr>
        <p:spPr>
          <a:xfrm>
            <a:off x="777240" y="1828800"/>
            <a:ext cx="672084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2402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6309359" cy="365760"/>
          </a:xfrm>
          <a:prstGeom prst="rect">
            <a:avLst/>
          </a:prstGeom>
          <a:noFill/>
        </p:spPr>
        <p:txBody>
          <a:bodyPr wrap="none">
            <a:spAutoFit/>
          </a:bodyPr>
          <a:lstStyle/>
          <a:p>
            <a:pPr>
              <a:defRPr sz="1500" b="1">
                <a:solidFill>
                  <a:srgbClr val="0F172A"/>
                </a:solidFill>
              </a:defRPr>
            </a:pPr>
            <a:r>
              <a:t>Core explanation</a:t>
            </a:r>
          </a:p>
        </p:txBody>
      </p:sp>
      <p:sp>
        <p:nvSpPr>
          <p:cNvPr id="10" name="TextBox 9"/>
          <p:cNvSpPr txBox="1"/>
          <p:nvPr/>
        </p:nvSpPr>
        <p:spPr>
          <a:xfrm>
            <a:off x="1005840" y="2450592"/>
            <a:ext cx="6309359" cy="1463040"/>
          </a:xfrm>
          <a:prstGeom prst="rect">
            <a:avLst/>
          </a:prstGeom>
          <a:noFill/>
        </p:spPr>
        <p:txBody>
          <a:bodyPr wrap="square">
            <a:spAutoFit/>
          </a:bodyPr>
          <a:lstStyle/>
          <a:p>
            <a:pPr>
              <a:defRPr sz="1400">
                <a:solidFill>
                  <a:srgbClr val="475569"/>
                </a:solidFill>
              </a:defRPr>
            </a:pPr>
            <a:r>
              <a:t>The data is relational: users own campaigns, campaigns have AI generations, leads and analytics events. Prisma gives typed database access.</a:t>
            </a:r>
          </a:p>
        </p:txBody>
      </p:sp>
      <p:sp>
        <p:nvSpPr>
          <p:cNvPr id="11" name="Rounded Rectangle 10"/>
          <p:cNvSpPr/>
          <p:nvPr/>
        </p:nvSpPr>
        <p:spPr>
          <a:xfrm>
            <a:off x="7818120" y="1828800"/>
            <a:ext cx="356616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18120" y="1828800"/>
            <a:ext cx="64008" cy="2240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993392"/>
            <a:ext cx="3154679" cy="365760"/>
          </a:xfrm>
          <a:prstGeom prst="rect">
            <a:avLst/>
          </a:prstGeom>
          <a:noFill/>
        </p:spPr>
        <p:txBody>
          <a:bodyPr wrap="none">
            <a:spAutoFit/>
          </a:bodyPr>
          <a:lstStyle/>
          <a:p>
            <a:pPr>
              <a:defRPr sz="1500" b="1">
                <a:solidFill>
                  <a:srgbClr val="0F172A"/>
                </a:solidFill>
              </a:defRPr>
            </a:pPr>
            <a:r>
              <a:t>Interview angle</a:t>
            </a:r>
          </a:p>
        </p:txBody>
      </p:sp>
      <p:sp>
        <p:nvSpPr>
          <p:cNvPr id="14" name="TextBox 13"/>
          <p:cNvSpPr txBox="1"/>
          <p:nvPr/>
        </p:nvSpPr>
        <p:spPr>
          <a:xfrm>
            <a:off x="8046720" y="2450592"/>
            <a:ext cx="3154679" cy="1463040"/>
          </a:xfrm>
          <a:prstGeom prst="rect">
            <a:avLst/>
          </a:prstGeom>
          <a:noFill/>
        </p:spPr>
        <p:txBody>
          <a:bodyPr wrap="square">
            <a:spAutoFit/>
          </a:bodyPr>
          <a:lstStyle/>
          <a:p>
            <a:pPr>
              <a:defRPr sz="1200">
                <a:solidFill>
                  <a:srgbClr val="475569"/>
                </a:solidFill>
              </a:defRPr>
            </a:pPr>
            <a:r>
              <a:t>Do not say SQL is always better; explain fit.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Project Story</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Why Zod</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11</a:t>
            </a:r>
          </a:p>
        </p:txBody>
      </p:sp>
      <p:sp>
        <p:nvSpPr>
          <p:cNvPr id="7" name="Rounded Rectangle 6"/>
          <p:cNvSpPr/>
          <p:nvPr/>
        </p:nvSpPr>
        <p:spPr>
          <a:xfrm>
            <a:off x="777240" y="1828800"/>
            <a:ext cx="672084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2402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6309359" cy="365760"/>
          </a:xfrm>
          <a:prstGeom prst="rect">
            <a:avLst/>
          </a:prstGeom>
          <a:noFill/>
        </p:spPr>
        <p:txBody>
          <a:bodyPr wrap="none">
            <a:spAutoFit/>
          </a:bodyPr>
          <a:lstStyle/>
          <a:p>
            <a:pPr>
              <a:defRPr sz="1500" b="1">
                <a:solidFill>
                  <a:srgbClr val="0F172A"/>
                </a:solidFill>
              </a:defRPr>
            </a:pPr>
            <a:r>
              <a:t>Core explanation</a:t>
            </a:r>
          </a:p>
        </p:txBody>
      </p:sp>
      <p:sp>
        <p:nvSpPr>
          <p:cNvPr id="10" name="TextBox 9"/>
          <p:cNvSpPr txBox="1"/>
          <p:nvPr/>
        </p:nvSpPr>
        <p:spPr>
          <a:xfrm>
            <a:off x="1005840" y="2450592"/>
            <a:ext cx="6309359" cy="1463040"/>
          </a:xfrm>
          <a:prstGeom prst="rect">
            <a:avLst/>
          </a:prstGeom>
          <a:noFill/>
        </p:spPr>
        <p:txBody>
          <a:bodyPr wrap="square">
            <a:spAutoFit/>
          </a:bodyPr>
          <a:lstStyle/>
          <a:p>
            <a:pPr>
              <a:defRPr sz="1400">
                <a:solidFill>
                  <a:srgbClr val="475569"/>
                </a:solidFill>
              </a:defRPr>
            </a:pPr>
            <a:r>
              <a:t>It validates untrusted input at the API boundary and protects database writes from malformed data.</a:t>
            </a:r>
          </a:p>
        </p:txBody>
      </p:sp>
      <p:sp>
        <p:nvSpPr>
          <p:cNvPr id="11" name="Rounded Rectangle 10"/>
          <p:cNvSpPr/>
          <p:nvPr/>
        </p:nvSpPr>
        <p:spPr>
          <a:xfrm>
            <a:off x="7818120" y="1828800"/>
            <a:ext cx="356616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18120" y="1828800"/>
            <a:ext cx="64008" cy="2240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993392"/>
            <a:ext cx="3154679" cy="365760"/>
          </a:xfrm>
          <a:prstGeom prst="rect">
            <a:avLst/>
          </a:prstGeom>
          <a:noFill/>
        </p:spPr>
        <p:txBody>
          <a:bodyPr wrap="none">
            <a:spAutoFit/>
          </a:bodyPr>
          <a:lstStyle/>
          <a:p>
            <a:pPr>
              <a:defRPr sz="1500" b="1">
                <a:solidFill>
                  <a:srgbClr val="0F172A"/>
                </a:solidFill>
              </a:defRPr>
            </a:pPr>
            <a:r>
              <a:t>Interview angle</a:t>
            </a:r>
          </a:p>
        </p:txBody>
      </p:sp>
      <p:sp>
        <p:nvSpPr>
          <p:cNvPr id="14" name="TextBox 13"/>
          <p:cNvSpPr txBox="1"/>
          <p:nvPr/>
        </p:nvSpPr>
        <p:spPr>
          <a:xfrm>
            <a:off x="8046720" y="2450592"/>
            <a:ext cx="3154679" cy="1463040"/>
          </a:xfrm>
          <a:prstGeom prst="rect">
            <a:avLst/>
          </a:prstGeom>
          <a:noFill/>
        </p:spPr>
        <p:txBody>
          <a:bodyPr wrap="square">
            <a:spAutoFit/>
          </a:bodyPr>
          <a:lstStyle/>
          <a:p>
            <a:pPr>
              <a:defRPr sz="1200">
                <a:solidFill>
                  <a:srgbClr val="475569"/>
                </a:solidFill>
              </a:defRPr>
            </a:pPr>
            <a:r>
              <a:t>Client validation is for UX; server validation is for correctness/security.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058400" cy="914400"/>
          </a:xfrm>
          <a:prstGeom prst="rect">
            <a:avLst/>
          </a:prstGeom>
          <a:noFill/>
        </p:spPr>
        <p:txBody>
          <a:bodyPr wrap="none">
            <a:spAutoFit/>
          </a:bodyPr>
          <a:lstStyle/>
          <a:p>
            <a:pPr>
              <a:defRPr sz="3600" b="1">
                <a:solidFill>
                  <a:srgbClr val="FFFFFF"/>
                </a:solidFill>
              </a:defRPr>
            </a:pPr>
            <a:r>
              <a:t>PART 2</a:t>
            </a:r>
          </a:p>
        </p:txBody>
      </p:sp>
      <p:sp>
        <p:nvSpPr>
          <p:cNvPr id="4" name="TextBox 3"/>
          <p:cNvSpPr txBox="1"/>
          <p:nvPr/>
        </p:nvSpPr>
        <p:spPr>
          <a:xfrm>
            <a:off x="914400" y="2743200"/>
            <a:ext cx="9601200" cy="914400"/>
          </a:xfrm>
          <a:prstGeom prst="rect">
            <a:avLst/>
          </a:prstGeom>
          <a:noFill/>
        </p:spPr>
        <p:txBody>
          <a:bodyPr wrap="none">
            <a:spAutoFit/>
          </a:bodyPr>
          <a:lstStyle/>
          <a:p>
            <a:pPr>
              <a:defRPr sz="1800">
                <a:solidFill>
                  <a:srgbClr val="CBD5E1"/>
                </a:solidFill>
              </a:defRPr>
            </a:pPr>
            <a:r>
              <a:t>Architecture, database and API flow</a:t>
            </a:r>
          </a:p>
        </p:txBody>
      </p:sp>
      <p:sp>
        <p:nvSpPr>
          <p:cNvPr id="5" name="TextBox 4"/>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Architecture</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High-level architecture</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13</a:t>
            </a:r>
          </a:p>
        </p:txBody>
      </p:sp>
      <p:sp>
        <p:nvSpPr>
          <p:cNvPr id="7" name="Rounded Rectangle 6"/>
          <p:cNvSpPr/>
          <p:nvPr/>
        </p:nvSpPr>
        <p:spPr>
          <a:xfrm>
            <a:off x="777240" y="1828800"/>
            <a:ext cx="672084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2402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6309359" cy="365760"/>
          </a:xfrm>
          <a:prstGeom prst="rect">
            <a:avLst/>
          </a:prstGeom>
          <a:noFill/>
        </p:spPr>
        <p:txBody>
          <a:bodyPr wrap="none">
            <a:spAutoFit/>
          </a:bodyPr>
          <a:lstStyle/>
          <a:p>
            <a:pPr>
              <a:defRPr sz="1500" b="1">
                <a:solidFill>
                  <a:srgbClr val="0F172A"/>
                </a:solidFill>
              </a:defRPr>
            </a:pPr>
            <a:r>
              <a:t>Core explanation</a:t>
            </a:r>
          </a:p>
        </p:txBody>
      </p:sp>
      <p:sp>
        <p:nvSpPr>
          <p:cNvPr id="10" name="TextBox 9"/>
          <p:cNvSpPr txBox="1"/>
          <p:nvPr/>
        </p:nvSpPr>
        <p:spPr>
          <a:xfrm>
            <a:off x="1005840" y="2450592"/>
            <a:ext cx="6309359" cy="1463040"/>
          </a:xfrm>
          <a:prstGeom prst="rect">
            <a:avLst/>
          </a:prstGeom>
          <a:noFill/>
        </p:spPr>
        <p:txBody>
          <a:bodyPr wrap="square">
            <a:spAutoFit/>
          </a:bodyPr>
          <a:lstStyle/>
          <a:p>
            <a:pPr>
              <a:defRPr sz="1400">
                <a:solidFill>
                  <a:srgbClr val="475569"/>
                </a:solidFill>
              </a:defRPr>
            </a:pPr>
            <a:r>
              <a:t>Browser UI → Next.js application → API route handlers → auth + validation → Prisma → PostgreSQL. AI generation adds an external AI service in the request flow.</a:t>
            </a:r>
          </a:p>
        </p:txBody>
      </p:sp>
      <p:sp>
        <p:nvSpPr>
          <p:cNvPr id="11" name="Rounded Rectangle 10"/>
          <p:cNvSpPr/>
          <p:nvPr/>
        </p:nvSpPr>
        <p:spPr>
          <a:xfrm>
            <a:off x="7818120" y="1828800"/>
            <a:ext cx="356616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18120" y="1828800"/>
            <a:ext cx="64008" cy="2240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993392"/>
            <a:ext cx="3154679" cy="365760"/>
          </a:xfrm>
          <a:prstGeom prst="rect">
            <a:avLst/>
          </a:prstGeom>
          <a:noFill/>
        </p:spPr>
        <p:txBody>
          <a:bodyPr wrap="none">
            <a:spAutoFit/>
          </a:bodyPr>
          <a:lstStyle/>
          <a:p>
            <a:pPr>
              <a:defRPr sz="1500" b="1">
                <a:solidFill>
                  <a:srgbClr val="0F172A"/>
                </a:solidFill>
              </a:defRPr>
            </a:pPr>
            <a:r>
              <a:t>Interview angle</a:t>
            </a:r>
          </a:p>
        </p:txBody>
      </p:sp>
      <p:sp>
        <p:nvSpPr>
          <p:cNvPr id="14" name="TextBox 13"/>
          <p:cNvSpPr txBox="1"/>
          <p:nvPr/>
        </p:nvSpPr>
        <p:spPr>
          <a:xfrm>
            <a:off x="8046720" y="2450592"/>
            <a:ext cx="3154679" cy="1463040"/>
          </a:xfrm>
          <a:prstGeom prst="rect">
            <a:avLst/>
          </a:prstGeom>
          <a:noFill/>
        </p:spPr>
        <p:txBody>
          <a:bodyPr wrap="square">
            <a:spAutoFit/>
          </a:bodyPr>
          <a:lstStyle/>
          <a:p>
            <a:pPr>
              <a:defRPr sz="1200">
                <a:solidFill>
                  <a:srgbClr val="475569"/>
                </a:solidFill>
              </a:defRPr>
            </a:pPr>
            <a:r>
              <a:t>Explain the request lifecycle from browser to database.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Architecture</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Authentication flow</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14</a:t>
            </a:r>
          </a:p>
        </p:txBody>
      </p:sp>
      <p:sp>
        <p:nvSpPr>
          <p:cNvPr id="7" name="Rounded Rectangle 6"/>
          <p:cNvSpPr/>
          <p:nvPr/>
        </p:nvSpPr>
        <p:spPr>
          <a:xfrm>
            <a:off x="777240" y="1828800"/>
            <a:ext cx="672084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2402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6309359" cy="365760"/>
          </a:xfrm>
          <a:prstGeom prst="rect">
            <a:avLst/>
          </a:prstGeom>
          <a:noFill/>
        </p:spPr>
        <p:txBody>
          <a:bodyPr wrap="none">
            <a:spAutoFit/>
          </a:bodyPr>
          <a:lstStyle/>
          <a:p>
            <a:pPr>
              <a:defRPr sz="1500" b="1">
                <a:solidFill>
                  <a:srgbClr val="0F172A"/>
                </a:solidFill>
              </a:defRPr>
            </a:pPr>
            <a:r>
              <a:t>Core explanation</a:t>
            </a:r>
          </a:p>
        </p:txBody>
      </p:sp>
      <p:sp>
        <p:nvSpPr>
          <p:cNvPr id="10" name="TextBox 9"/>
          <p:cNvSpPr txBox="1"/>
          <p:nvPr/>
        </p:nvSpPr>
        <p:spPr>
          <a:xfrm>
            <a:off x="1005840" y="2450592"/>
            <a:ext cx="6309359" cy="1463040"/>
          </a:xfrm>
          <a:prstGeom prst="rect">
            <a:avLst/>
          </a:prstGeom>
          <a:noFill/>
        </p:spPr>
        <p:txBody>
          <a:bodyPr wrap="square">
            <a:spAutoFit/>
          </a:bodyPr>
          <a:lstStyle/>
          <a:p>
            <a:pPr>
              <a:defRPr sz="1400">
                <a:solidFill>
                  <a:srgbClr val="475569"/>
                </a:solidFill>
              </a:defRPr>
            </a:pPr>
            <a:r>
              <a:t>Login/signup establishes authenticated state. Protected APIs use the current user instead of trusting a user ID sent by the browser.</a:t>
            </a:r>
          </a:p>
        </p:txBody>
      </p:sp>
      <p:sp>
        <p:nvSpPr>
          <p:cNvPr id="11" name="Rounded Rectangle 10"/>
          <p:cNvSpPr/>
          <p:nvPr/>
        </p:nvSpPr>
        <p:spPr>
          <a:xfrm>
            <a:off x="7818120" y="1828800"/>
            <a:ext cx="356616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18120" y="1828800"/>
            <a:ext cx="64008" cy="2240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993392"/>
            <a:ext cx="3154679" cy="365760"/>
          </a:xfrm>
          <a:prstGeom prst="rect">
            <a:avLst/>
          </a:prstGeom>
          <a:noFill/>
        </p:spPr>
        <p:txBody>
          <a:bodyPr wrap="none">
            <a:spAutoFit/>
          </a:bodyPr>
          <a:lstStyle/>
          <a:p>
            <a:pPr>
              <a:defRPr sz="1500" b="1">
                <a:solidFill>
                  <a:srgbClr val="0F172A"/>
                </a:solidFill>
              </a:defRPr>
            </a:pPr>
            <a:r>
              <a:t>Interview angle</a:t>
            </a:r>
          </a:p>
        </p:txBody>
      </p:sp>
      <p:sp>
        <p:nvSpPr>
          <p:cNvPr id="14" name="TextBox 13"/>
          <p:cNvSpPr txBox="1"/>
          <p:nvPr/>
        </p:nvSpPr>
        <p:spPr>
          <a:xfrm>
            <a:off x="8046720" y="2450592"/>
            <a:ext cx="3154679" cy="1463040"/>
          </a:xfrm>
          <a:prstGeom prst="rect">
            <a:avLst/>
          </a:prstGeom>
          <a:noFill/>
        </p:spPr>
        <p:txBody>
          <a:bodyPr wrap="square">
            <a:spAutoFit/>
          </a:bodyPr>
          <a:lstStyle/>
          <a:p>
            <a:pPr>
              <a:defRPr sz="1200">
                <a:solidFill>
                  <a:srgbClr val="475569"/>
                </a:solidFill>
              </a:defRPr>
            </a:pPr>
            <a:r>
              <a:t>Authentication identifies the user; authorization checks access.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Architecture</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Authorization vs authentication</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15</a:t>
            </a:r>
          </a:p>
        </p:txBody>
      </p:sp>
      <p:sp>
        <p:nvSpPr>
          <p:cNvPr id="7" name="Rounded Rectangle 6"/>
          <p:cNvSpPr/>
          <p:nvPr/>
        </p:nvSpPr>
        <p:spPr>
          <a:xfrm>
            <a:off x="777240" y="1828800"/>
            <a:ext cx="672084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2402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6309359" cy="365760"/>
          </a:xfrm>
          <a:prstGeom prst="rect">
            <a:avLst/>
          </a:prstGeom>
          <a:noFill/>
        </p:spPr>
        <p:txBody>
          <a:bodyPr wrap="none">
            <a:spAutoFit/>
          </a:bodyPr>
          <a:lstStyle/>
          <a:p>
            <a:pPr>
              <a:defRPr sz="1500" b="1">
                <a:solidFill>
                  <a:srgbClr val="0F172A"/>
                </a:solidFill>
              </a:defRPr>
            </a:pPr>
            <a:r>
              <a:t>Core explanation</a:t>
            </a:r>
          </a:p>
        </p:txBody>
      </p:sp>
      <p:sp>
        <p:nvSpPr>
          <p:cNvPr id="10" name="TextBox 9"/>
          <p:cNvSpPr txBox="1"/>
          <p:nvPr/>
        </p:nvSpPr>
        <p:spPr>
          <a:xfrm>
            <a:off x="1005840" y="2450592"/>
            <a:ext cx="6309359" cy="1463040"/>
          </a:xfrm>
          <a:prstGeom prst="rect">
            <a:avLst/>
          </a:prstGeom>
          <a:noFill/>
        </p:spPr>
        <p:txBody>
          <a:bodyPr wrap="square">
            <a:spAutoFit/>
          </a:bodyPr>
          <a:lstStyle/>
          <a:p>
            <a:pPr>
              <a:defRPr sz="1400">
                <a:solidFill>
                  <a:srgbClr val="475569"/>
                </a:solidFill>
              </a:defRPr>
            </a:pPr>
            <a:r>
              <a:t>Authentication = who are you? Authorization = are you allowed to access this resource?</a:t>
            </a:r>
          </a:p>
        </p:txBody>
      </p:sp>
      <p:sp>
        <p:nvSpPr>
          <p:cNvPr id="11" name="Rounded Rectangle 10"/>
          <p:cNvSpPr/>
          <p:nvPr/>
        </p:nvSpPr>
        <p:spPr>
          <a:xfrm>
            <a:off x="7818120" y="1828800"/>
            <a:ext cx="356616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18120" y="1828800"/>
            <a:ext cx="64008" cy="2240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993392"/>
            <a:ext cx="3154679" cy="365760"/>
          </a:xfrm>
          <a:prstGeom prst="rect">
            <a:avLst/>
          </a:prstGeom>
          <a:noFill/>
        </p:spPr>
        <p:txBody>
          <a:bodyPr wrap="none">
            <a:spAutoFit/>
          </a:bodyPr>
          <a:lstStyle/>
          <a:p>
            <a:pPr>
              <a:defRPr sz="1500" b="1">
                <a:solidFill>
                  <a:srgbClr val="0F172A"/>
                </a:solidFill>
              </a:defRPr>
            </a:pPr>
            <a:r>
              <a:t>Interview angle</a:t>
            </a:r>
          </a:p>
        </p:txBody>
      </p:sp>
      <p:sp>
        <p:nvSpPr>
          <p:cNvPr id="14" name="TextBox 13"/>
          <p:cNvSpPr txBox="1"/>
          <p:nvPr/>
        </p:nvSpPr>
        <p:spPr>
          <a:xfrm>
            <a:off x="8046720" y="2450592"/>
            <a:ext cx="3154679" cy="1463040"/>
          </a:xfrm>
          <a:prstGeom prst="rect">
            <a:avLst/>
          </a:prstGeom>
          <a:noFill/>
        </p:spPr>
        <p:txBody>
          <a:bodyPr wrap="square">
            <a:spAutoFit/>
          </a:bodyPr>
          <a:lstStyle/>
          <a:p>
            <a:pPr>
              <a:defRPr sz="1200">
                <a:solidFill>
                  <a:srgbClr val="475569"/>
                </a:solidFill>
              </a:defRPr>
            </a:pPr>
            <a:r>
              <a:t>Campaign ownership is an authorization concern.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Architecture</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Campaign ownership</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16</a:t>
            </a:r>
          </a:p>
        </p:txBody>
      </p:sp>
      <p:sp>
        <p:nvSpPr>
          <p:cNvPr id="7" name="Rounded Rectangle 6"/>
          <p:cNvSpPr/>
          <p:nvPr/>
        </p:nvSpPr>
        <p:spPr>
          <a:xfrm>
            <a:off x="777240" y="1828800"/>
            <a:ext cx="672084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2402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6309359" cy="365760"/>
          </a:xfrm>
          <a:prstGeom prst="rect">
            <a:avLst/>
          </a:prstGeom>
          <a:noFill/>
        </p:spPr>
        <p:txBody>
          <a:bodyPr wrap="none">
            <a:spAutoFit/>
          </a:bodyPr>
          <a:lstStyle/>
          <a:p>
            <a:pPr>
              <a:defRPr sz="1500" b="1">
                <a:solidFill>
                  <a:srgbClr val="0F172A"/>
                </a:solidFill>
              </a:defRPr>
            </a:pPr>
            <a:r>
              <a:t>Core explanation</a:t>
            </a:r>
          </a:p>
        </p:txBody>
      </p:sp>
      <p:sp>
        <p:nvSpPr>
          <p:cNvPr id="10" name="TextBox 9"/>
          <p:cNvSpPr txBox="1"/>
          <p:nvPr/>
        </p:nvSpPr>
        <p:spPr>
          <a:xfrm>
            <a:off x="1005840" y="2450592"/>
            <a:ext cx="6309359" cy="1463040"/>
          </a:xfrm>
          <a:prstGeom prst="rect">
            <a:avLst/>
          </a:prstGeom>
          <a:noFill/>
        </p:spPr>
        <p:txBody>
          <a:bodyPr wrap="square">
            <a:spAutoFit/>
          </a:bodyPr>
          <a:lstStyle/>
          <a:p>
            <a:pPr>
              <a:defRPr sz="1400">
                <a:solidFill>
                  <a:srgbClr val="475569"/>
                </a:solidFill>
              </a:defRPr>
            </a:pPr>
            <a:r>
              <a:t>Campaign reads and mutations are scoped to the authenticated user's campaigns. The client-provided campaign ID does not determine ownership.</a:t>
            </a:r>
          </a:p>
        </p:txBody>
      </p:sp>
      <p:sp>
        <p:nvSpPr>
          <p:cNvPr id="11" name="Rounded Rectangle 10"/>
          <p:cNvSpPr/>
          <p:nvPr/>
        </p:nvSpPr>
        <p:spPr>
          <a:xfrm>
            <a:off x="7818120" y="1828800"/>
            <a:ext cx="356616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18120" y="1828800"/>
            <a:ext cx="64008" cy="2240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993392"/>
            <a:ext cx="3154679" cy="365760"/>
          </a:xfrm>
          <a:prstGeom prst="rect">
            <a:avLst/>
          </a:prstGeom>
          <a:noFill/>
        </p:spPr>
        <p:txBody>
          <a:bodyPr wrap="none">
            <a:spAutoFit/>
          </a:bodyPr>
          <a:lstStyle/>
          <a:p>
            <a:pPr>
              <a:defRPr sz="1500" b="1">
                <a:solidFill>
                  <a:srgbClr val="0F172A"/>
                </a:solidFill>
              </a:defRPr>
            </a:pPr>
            <a:r>
              <a:t>Interview angle</a:t>
            </a:r>
          </a:p>
        </p:txBody>
      </p:sp>
      <p:sp>
        <p:nvSpPr>
          <p:cNvPr id="14" name="TextBox 13"/>
          <p:cNvSpPr txBox="1"/>
          <p:nvPr/>
        </p:nvSpPr>
        <p:spPr>
          <a:xfrm>
            <a:off x="8046720" y="2450592"/>
            <a:ext cx="3154679" cy="1463040"/>
          </a:xfrm>
          <a:prstGeom prst="rect">
            <a:avLst/>
          </a:prstGeom>
          <a:noFill/>
        </p:spPr>
        <p:txBody>
          <a:bodyPr wrap="square">
            <a:spAutoFit/>
          </a:bodyPr>
          <a:lstStyle/>
          <a:p>
            <a:pPr>
              <a:defRPr sz="1200">
                <a:solidFill>
                  <a:srgbClr val="475569"/>
                </a:solidFill>
              </a:defRPr>
            </a:pPr>
            <a:r>
              <a:t>This protects against IDOR-style access problems.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Architecture</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Core database model</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17</a:t>
            </a:r>
          </a:p>
        </p:txBody>
      </p:sp>
      <p:sp>
        <p:nvSpPr>
          <p:cNvPr id="7" name="Rounded Rectangle 6"/>
          <p:cNvSpPr/>
          <p:nvPr/>
        </p:nvSpPr>
        <p:spPr>
          <a:xfrm>
            <a:off x="777240" y="1828800"/>
            <a:ext cx="672084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2402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6309359" cy="365760"/>
          </a:xfrm>
          <a:prstGeom prst="rect">
            <a:avLst/>
          </a:prstGeom>
          <a:noFill/>
        </p:spPr>
        <p:txBody>
          <a:bodyPr wrap="none">
            <a:spAutoFit/>
          </a:bodyPr>
          <a:lstStyle/>
          <a:p>
            <a:pPr>
              <a:defRPr sz="1500" b="1">
                <a:solidFill>
                  <a:srgbClr val="0F172A"/>
                </a:solidFill>
              </a:defRPr>
            </a:pPr>
            <a:r>
              <a:t>Core explanation</a:t>
            </a:r>
          </a:p>
        </p:txBody>
      </p:sp>
      <p:sp>
        <p:nvSpPr>
          <p:cNvPr id="10" name="TextBox 9"/>
          <p:cNvSpPr txBox="1"/>
          <p:nvPr/>
        </p:nvSpPr>
        <p:spPr>
          <a:xfrm>
            <a:off x="1005840" y="2450592"/>
            <a:ext cx="6309359" cy="1463040"/>
          </a:xfrm>
          <a:prstGeom prst="rect">
            <a:avLst/>
          </a:prstGeom>
          <a:noFill/>
        </p:spPr>
        <p:txBody>
          <a:bodyPr wrap="square">
            <a:spAutoFit/>
          </a:bodyPr>
          <a:lstStyle/>
          <a:p>
            <a:pPr>
              <a:defRPr sz="1400">
                <a:solidFill>
                  <a:srgbClr val="475569"/>
                </a:solidFill>
              </a:defRPr>
            </a:pPr>
            <a:r>
              <a:t>User → Campaign. Campaign → AiContent. Campaign → Lead. Campaign → AnalyticsEvent.</a:t>
            </a:r>
          </a:p>
        </p:txBody>
      </p:sp>
      <p:sp>
        <p:nvSpPr>
          <p:cNvPr id="11" name="Rounded Rectangle 10"/>
          <p:cNvSpPr/>
          <p:nvPr/>
        </p:nvSpPr>
        <p:spPr>
          <a:xfrm>
            <a:off x="7818120" y="1828800"/>
            <a:ext cx="356616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18120" y="1828800"/>
            <a:ext cx="64008" cy="2240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993392"/>
            <a:ext cx="3154679" cy="365760"/>
          </a:xfrm>
          <a:prstGeom prst="rect">
            <a:avLst/>
          </a:prstGeom>
          <a:noFill/>
        </p:spPr>
        <p:txBody>
          <a:bodyPr wrap="none">
            <a:spAutoFit/>
          </a:bodyPr>
          <a:lstStyle/>
          <a:p>
            <a:pPr>
              <a:defRPr sz="1500" b="1">
                <a:solidFill>
                  <a:srgbClr val="0F172A"/>
                </a:solidFill>
              </a:defRPr>
            </a:pPr>
            <a:r>
              <a:t>Interview angle</a:t>
            </a:r>
          </a:p>
        </p:txBody>
      </p:sp>
      <p:sp>
        <p:nvSpPr>
          <p:cNvPr id="14" name="TextBox 13"/>
          <p:cNvSpPr txBox="1"/>
          <p:nvPr/>
        </p:nvSpPr>
        <p:spPr>
          <a:xfrm>
            <a:off x="8046720" y="2450592"/>
            <a:ext cx="3154679" cy="1463040"/>
          </a:xfrm>
          <a:prstGeom prst="rect">
            <a:avLst/>
          </a:prstGeom>
          <a:noFill/>
        </p:spPr>
        <p:txBody>
          <a:bodyPr wrap="square">
            <a:spAutoFit/>
          </a:bodyPr>
          <a:lstStyle/>
          <a:p>
            <a:pPr>
              <a:defRPr sz="1200">
                <a:solidFill>
                  <a:srgbClr val="475569"/>
                </a:solidFill>
              </a:defRPr>
            </a:pPr>
            <a:r>
              <a:t>Describe relationships and ownership rather than memorizing generated SQL.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Architecture</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Campaign CRUD</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18</a:t>
            </a:r>
          </a:p>
        </p:txBody>
      </p:sp>
      <p:sp>
        <p:nvSpPr>
          <p:cNvPr id="7" name="Rounded Rectangle 6"/>
          <p:cNvSpPr/>
          <p:nvPr/>
        </p:nvSpPr>
        <p:spPr>
          <a:xfrm>
            <a:off x="777240" y="1828800"/>
            <a:ext cx="672084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2402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6309359" cy="365760"/>
          </a:xfrm>
          <a:prstGeom prst="rect">
            <a:avLst/>
          </a:prstGeom>
          <a:noFill/>
        </p:spPr>
        <p:txBody>
          <a:bodyPr wrap="none">
            <a:spAutoFit/>
          </a:bodyPr>
          <a:lstStyle/>
          <a:p>
            <a:pPr>
              <a:defRPr sz="1500" b="1">
                <a:solidFill>
                  <a:srgbClr val="0F172A"/>
                </a:solidFill>
              </a:defRPr>
            </a:pPr>
            <a:r>
              <a:t>Core explanation</a:t>
            </a:r>
          </a:p>
        </p:txBody>
      </p:sp>
      <p:sp>
        <p:nvSpPr>
          <p:cNvPr id="10" name="TextBox 9"/>
          <p:cNvSpPr txBox="1"/>
          <p:nvPr/>
        </p:nvSpPr>
        <p:spPr>
          <a:xfrm>
            <a:off x="1005840" y="2450592"/>
            <a:ext cx="6309359" cy="1463040"/>
          </a:xfrm>
          <a:prstGeom prst="rect">
            <a:avLst/>
          </a:prstGeom>
          <a:noFill/>
        </p:spPr>
        <p:txBody>
          <a:bodyPr wrap="square">
            <a:spAutoFit/>
          </a:bodyPr>
          <a:lstStyle/>
          <a:p>
            <a:pPr>
              <a:defRPr sz="1400">
                <a:solidFill>
                  <a:srgbClr val="475569"/>
                </a:solidFill>
              </a:defRPr>
            </a:pPr>
            <a:r>
              <a:t>POST creates, GET reads, PUT updates and DELETE removes. Each mutation validates input and verifies authorization.</a:t>
            </a:r>
          </a:p>
        </p:txBody>
      </p:sp>
      <p:sp>
        <p:nvSpPr>
          <p:cNvPr id="11" name="Rounded Rectangle 10"/>
          <p:cNvSpPr/>
          <p:nvPr/>
        </p:nvSpPr>
        <p:spPr>
          <a:xfrm>
            <a:off x="7818120" y="1828800"/>
            <a:ext cx="356616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18120" y="1828800"/>
            <a:ext cx="64008" cy="2240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993392"/>
            <a:ext cx="3154679" cy="365760"/>
          </a:xfrm>
          <a:prstGeom prst="rect">
            <a:avLst/>
          </a:prstGeom>
          <a:noFill/>
        </p:spPr>
        <p:txBody>
          <a:bodyPr wrap="none">
            <a:spAutoFit/>
          </a:bodyPr>
          <a:lstStyle/>
          <a:p>
            <a:pPr>
              <a:defRPr sz="1500" b="1">
                <a:solidFill>
                  <a:srgbClr val="0F172A"/>
                </a:solidFill>
              </a:defRPr>
            </a:pPr>
            <a:r>
              <a:t>Interview angle</a:t>
            </a:r>
          </a:p>
        </p:txBody>
      </p:sp>
      <p:sp>
        <p:nvSpPr>
          <p:cNvPr id="14" name="TextBox 13"/>
          <p:cNvSpPr txBox="1"/>
          <p:nvPr/>
        </p:nvSpPr>
        <p:spPr>
          <a:xfrm>
            <a:off x="8046720" y="2450592"/>
            <a:ext cx="3154679" cy="1463040"/>
          </a:xfrm>
          <a:prstGeom prst="rect">
            <a:avLst/>
          </a:prstGeom>
          <a:noFill/>
        </p:spPr>
        <p:txBody>
          <a:bodyPr wrap="square">
            <a:spAutoFit/>
          </a:bodyPr>
          <a:lstStyle/>
          <a:p>
            <a:pPr>
              <a:defRPr sz="1200">
                <a:solidFill>
                  <a:srgbClr val="475569"/>
                </a:solidFill>
              </a:defRPr>
            </a:pPr>
            <a:r>
              <a:t>Be able to explain every step of update/delete.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Architecture</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AI generation flow</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19</a:t>
            </a:r>
          </a:p>
        </p:txBody>
      </p:sp>
      <p:sp>
        <p:nvSpPr>
          <p:cNvPr id="7" name="Rounded Rectangle 6"/>
          <p:cNvSpPr/>
          <p:nvPr/>
        </p:nvSpPr>
        <p:spPr>
          <a:xfrm>
            <a:off x="777240" y="1828800"/>
            <a:ext cx="672084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2402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6309359" cy="365760"/>
          </a:xfrm>
          <a:prstGeom prst="rect">
            <a:avLst/>
          </a:prstGeom>
          <a:noFill/>
        </p:spPr>
        <p:txBody>
          <a:bodyPr wrap="none">
            <a:spAutoFit/>
          </a:bodyPr>
          <a:lstStyle/>
          <a:p>
            <a:pPr>
              <a:defRPr sz="1500" b="1">
                <a:solidFill>
                  <a:srgbClr val="0F172A"/>
                </a:solidFill>
              </a:defRPr>
            </a:pPr>
            <a:r>
              <a:t>Core explanation</a:t>
            </a:r>
          </a:p>
        </p:txBody>
      </p:sp>
      <p:sp>
        <p:nvSpPr>
          <p:cNvPr id="10" name="TextBox 9"/>
          <p:cNvSpPr txBox="1"/>
          <p:nvPr/>
        </p:nvSpPr>
        <p:spPr>
          <a:xfrm>
            <a:off x="1005840" y="2450592"/>
            <a:ext cx="6309359" cy="1463040"/>
          </a:xfrm>
          <a:prstGeom prst="rect">
            <a:avLst/>
          </a:prstGeom>
          <a:noFill/>
        </p:spPr>
        <p:txBody>
          <a:bodyPr wrap="square">
            <a:spAutoFit/>
          </a:bodyPr>
          <a:lstStyle/>
          <a:p>
            <a:pPr>
              <a:defRPr sz="1400">
                <a:solidFill>
                  <a:srgbClr val="475569"/>
                </a:solidFill>
              </a:defRPr>
            </a:pPr>
            <a:r>
              <a:t>Client sends campaignId → API authenticates → campaign is checked → AI request uses campaign context → generated fields are stored → response updates React state.</a:t>
            </a:r>
          </a:p>
        </p:txBody>
      </p:sp>
      <p:sp>
        <p:nvSpPr>
          <p:cNvPr id="11" name="Rounded Rectangle 10"/>
          <p:cNvSpPr/>
          <p:nvPr/>
        </p:nvSpPr>
        <p:spPr>
          <a:xfrm>
            <a:off x="7818120" y="1828800"/>
            <a:ext cx="356616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18120" y="1828800"/>
            <a:ext cx="64008" cy="2240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993392"/>
            <a:ext cx="3154679" cy="365760"/>
          </a:xfrm>
          <a:prstGeom prst="rect">
            <a:avLst/>
          </a:prstGeom>
          <a:noFill/>
        </p:spPr>
        <p:txBody>
          <a:bodyPr wrap="none">
            <a:spAutoFit/>
          </a:bodyPr>
          <a:lstStyle/>
          <a:p>
            <a:pPr>
              <a:defRPr sz="1500" b="1">
                <a:solidFill>
                  <a:srgbClr val="0F172A"/>
                </a:solidFill>
              </a:defRPr>
            </a:pPr>
            <a:r>
              <a:t>Interview angle</a:t>
            </a:r>
          </a:p>
        </p:txBody>
      </p:sp>
      <p:sp>
        <p:nvSpPr>
          <p:cNvPr id="14" name="TextBox 13"/>
          <p:cNvSpPr txBox="1"/>
          <p:nvPr/>
        </p:nvSpPr>
        <p:spPr>
          <a:xfrm>
            <a:off x="8046720" y="2450592"/>
            <a:ext cx="3154679" cy="1463040"/>
          </a:xfrm>
          <a:prstGeom prst="rect">
            <a:avLst/>
          </a:prstGeom>
          <a:noFill/>
        </p:spPr>
        <p:txBody>
          <a:bodyPr wrap="square">
            <a:spAutoFit/>
          </a:bodyPr>
          <a:lstStyle/>
          <a:p>
            <a:pPr>
              <a:defRPr sz="1200">
                <a:solidFill>
                  <a:srgbClr val="475569"/>
                </a:solidFill>
              </a:defRPr>
            </a:pPr>
            <a:r>
              <a:t>The database stores generation history; UI state only displays 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Architecture</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Lead capture transaction</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20</a:t>
            </a:r>
          </a:p>
        </p:txBody>
      </p:sp>
      <p:sp>
        <p:nvSpPr>
          <p:cNvPr id="7" name="Rounded Rectangle 6"/>
          <p:cNvSpPr/>
          <p:nvPr/>
        </p:nvSpPr>
        <p:spPr>
          <a:xfrm>
            <a:off x="777240" y="1828800"/>
            <a:ext cx="672084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2402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6309359" cy="365760"/>
          </a:xfrm>
          <a:prstGeom prst="rect">
            <a:avLst/>
          </a:prstGeom>
          <a:noFill/>
        </p:spPr>
        <p:txBody>
          <a:bodyPr wrap="none">
            <a:spAutoFit/>
          </a:bodyPr>
          <a:lstStyle/>
          <a:p>
            <a:pPr>
              <a:defRPr sz="1500" b="1">
                <a:solidFill>
                  <a:srgbClr val="0F172A"/>
                </a:solidFill>
              </a:defRPr>
            </a:pPr>
            <a:r>
              <a:t>Core explanation</a:t>
            </a:r>
          </a:p>
        </p:txBody>
      </p:sp>
      <p:sp>
        <p:nvSpPr>
          <p:cNvPr id="10" name="TextBox 9"/>
          <p:cNvSpPr txBox="1"/>
          <p:nvPr/>
        </p:nvSpPr>
        <p:spPr>
          <a:xfrm>
            <a:off x="1005840" y="2450592"/>
            <a:ext cx="6309359" cy="1463040"/>
          </a:xfrm>
          <a:prstGeom prst="rect">
            <a:avLst/>
          </a:prstGeom>
          <a:noFill/>
        </p:spPr>
        <p:txBody>
          <a:bodyPr wrap="square">
            <a:spAutoFit/>
          </a:bodyPr>
          <a:lstStyle/>
          <a:p>
            <a:pPr>
              <a:defRPr sz="1400">
                <a:solidFill>
                  <a:srgbClr val="475569"/>
                </a:solidFill>
              </a:defRPr>
            </a:pPr>
            <a:r>
              <a:t>The lead and LEAD_CAPTURE analytics event are created inside one transaction.</a:t>
            </a:r>
          </a:p>
        </p:txBody>
      </p:sp>
      <p:sp>
        <p:nvSpPr>
          <p:cNvPr id="11" name="Rounded Rectangle 10"/>
          <p:cNvSpPr/>
          <p:nvPr/>
        </p:nvSpPr>
        <p:spPr>
          <a:xfrm>
            <a:off x="7818120" y="1828800"/>
            <a:ext cx="356616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18120" y="1828800"/>
            <a:ext cx="64008" cy="2240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993392"/>
            <a:ext cx="3154679" cy="365760"/>
          </a:xfrm>
          <a:prstGeom prst="rect">
            <a:avLst/>
          </a:prstGeom>
          <a:noFill/>
        </p:spPr>
        <p:txBody>
          <a:bodyPr wrap="none">
            <a:spAutoFit/>
          </a:bodyPr>
          <a:lstStyle/>
          <a:p>
            <a:pPr>
              <a:defRPr sz="1500" b="1">
                <a:solidFill>
                  <a:srgbClr val="0F172A"/>
                </a:solidFill>
              </a:defRPr>
            </a:pPr>
            <a:r>
              <a:t>Interview angle</a:t>
            </a:r>
          </a:p>
        </p:txBody>
      </p:sp>
      <p:sp>
        <p:nvSpPr>
          <p:cNvPr id="14" name="TextBox 13"/>
          <p:cNvSpPr txBox="1"/>
          <p:nvPr/>
        </p:nvSpPr>
        <p:spPr>
          <a:xfrm>
            <a:off x="8046720" y="2450592"/>
            <a:ext cx="3154679" cy="1463040"/>
          </a:xfrm>
          <a:prstGeom prst="rect">
            <a:avLst/>
          </a:prstGeom>
          <a:noFill/>
        </p:spPr>
        <p:txBody>
          <a:bodyPr wrap="square">
            <a:spAutoFit/>
          </a:bodyPr>
          <a:lstStyle/>
          <a:p>
            <a:pPr>
              <a:defRPr sz="1200">
                <a:solidFill>
                  <a:srgbClr val="475569"/>
                </a:solidFill>
              </a:defRPr>
            </a:pPr>
            <a:r>
              <a:t>Use the word atomic: either the related writes succeed together or the transaction rolls back.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Architecture</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Why transactions</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21</a:t>
            </a:r>
          </a:p>
        </p:txBody>
      </p:sp>
      <p:sp>
        <p:nvSpPr>
          <p:cNvPr id="7" name="Rounded Rectangle 6"/>
          <p:cNvSpPr/>
          <p:nvPr/>
        </p:nvSpPr>
        <p:spPr>
          <a:xfrm>
            <a:off x="777240" y="1828800"/>
            <a:ext cx="672084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2402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6309359" cy="365760"/>
          </a:xfrm>
          <a:prstGeom prst="rect">
            <a:avLst/>
          </a:prstGeom>
          <a:noFill/>
        </p:spPr>
        <p:txBody>
          <a:bodyPr wrap="none">
            <a:spAutoFit/>
          </a:bodyPr>
          <a:lstStyle/>
          <a:p>
            <a:pPr>
              <a:defRPr sz="1500" b="1">
                <a:solidFill>
                  <a:srgbClr val="0F172A"/>
                </a:solidFill>
              </a:defRPr>
            </a:pPr>
            <a:r>
              <a:t>Core explanation</a:t>
            </a:r>
          </a:p>
        </p:txBody>
      </p:sp>
      <p:sp>
        <p:nvSpPr>
          <p:cNvPr id="10" name="TextBox 9"/>
          <p:cNvSpPr txBox="1"/>
          <p:nvPr/>
        </p:nvSpPr>
        <p:spPr>
          <a:xfrm>
            <a:off x="1005840" y="2450592"/>
            <a:ext cx="6309359" cy="1463040"/>
          </a:xfrm>
          <a:prstGeom prst="rect">
            <a:avLst/>
          </a:prstGeom>
          <a:noFill/>
        </p:spPr>
        <p:txBody>
          <a:bodyPr wrap="square">
            <a:spAutoFit/>
          </a:bodyPr>
          <a:lstStyle/>
          <a:p>
            <a:pPr>
              <a:defRPr sz="1400">
                <a:solidFill>
                  <a:srgbClr val="475569"/>
                </a:solidFill>
              </a:defRPr>
            </a:pPr>
            <a:r>
              <a:t>Without a transaction, the lead could exist while its analytics event fails, creating inconsistent reporting.</a:t>
            </a:r>
          </a:p>
        </p:txBody>
      </p:sp>
      <p:sp>
        <p:nvSpPr>
          <p:cNvPr id="11" name="Rounded Rectangle 10"/>
          <p:cNvSpPr/>
          <p:nvPr/>
        </p:nvSpPr>
        <p:spPr>
          <a:xfrm>
            <a:off x="7818120" y="1828800"/>
            <a:ext cx="356616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18120" y="1828800"/>
            <a:ext cx="64008" cy="2240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993392"/>
            <a:ext cx="3154679" cy="365760"/>
          </a:xfrm>
          <a:prstGeom prst="rect">
            <a:avLst/>
          </a:prstGeom>
          <a:noFill/>
        </p:spPr>
        <p:txBody>
          <a:bodyPr wrap="none">
            <a:spAutoFit/>
          </a:bodyPr>
          <a:lstStyle/>
          <a:p>
            <a:pPr>
              <a:defRPr sz="1500" b="1">
                <a:solidFill>
                  <a:srgbClr val="0F172A"/>
                </a:solidFill>
              </a:defRPr>
            </a:pPr>
            <a:r>
              <a:t>Interview angle</a:t>
            </a:r>
          </a:p>
        </p:txBody>
      </p:sp>
      <p:sp>
        <p:nvSpPr>
          <p:cNvPr id="14" name="TextBox 13"/>
          <p:cNvSpPr txBox="1"/>
          <p:nvPr/>
        </p:nvSpPr>
        <p:spPr>
          <a:xfrm>
            <a:off x="8046720" y="2450592"/>
            <a:ext cx="3154679" cy="1463040"/>
          </a:xfrm>
          <a:prstGeom prst="rect">
            <a:avLst/>
          </a:prstGeom>
          <a:noFill/>
        </p:spPr>
        <p:txBody>
          <a:bodyPr wrap="square">
            <a:spAutoFit/>
          </a:bodyPr>
          <a:lstStyle/>
          <a:p>
            <a:pPr>
              <a:defRPr sz="1200">
                <a:solidFill>
                  <a:srgbClr val="475569"/>
                </a:solidFill>
              </a:defRPr>
            </a:pPr>
            <a:r>
              <a:t>This is one of your strongest database design examples.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Architecture</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REST-style API</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22</a:t>
            </a:r>
          </a:p>
        </p:txBody>
      </p:sp>
      <p:sp>
        <p:nvSpPr>
          <p:cNvPr id="7" name="Rounded Rectangle 6"/>
          <p:cNvSpPr/>
          <p:nvPr/>
        </p:nvSpPr>
        <p:spPr>
          <a:xfrm>
            <a:off x="777240" y="1828800"/>
            <a:ext cx="672084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2402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6309359" cy="365760"/>
          </a:xfrm>
          <a:prstGeom prst="rect">
            <a:avLst/>
          </a:prstGeom>
          <a:noFill/>
        </p:spPr>
        <p:txBody>
          <a:bodyPr wrap="none">
            <a:spAutoFit/>
          </a:bodyPr>
          <a:lstStyle/>
          <a:p>
            <a:pPr>
              <a:defRPr sz="1500" b="1">
                <a:solidFill>
                  <a:srgbClr val="0F172A"/>
                </a:solidFill>
              </a:defRPr>
            </a:pPr>
            <a:r>
              <a:t>Core explanation</a:t>
            </a:r>
          </a:p>
        </p:txBody>
      </p:sp>
      <p:sp>
        <p:nvSpPr>
          <p:cNvPr id="10" name="TextBox 9"/>
          <p:cNvSpPr txBox="1"/>
          <p:nvPr/>
        </p:nvSpPr>
        <p:spPr>
          <a:xfrm>
            <a:off x="1005840" y="2450592"/>
            <a:ext cx="6309359" cy="1463040"/>
          </a:xfrm>
          <a:prstGeom prst="rect">
            <a:avLst/>
          </a:prstGeom>
          <a:noFill/>
        </p:spPr>
        <p:txBody>
          <a:bodyPr wrap="square">
            <a:spAutoFit/>
          </a:bodyPr>
          <a:lstStyle/>
          <a:p>
            <a:pPr>
              <a:defRPr sz="1400">
                <a:solidFill>
                  <a:srgbClr val="475569"/>
                </a:solidFill>
              </a:defRPr>
            </a:pPr>
            <a:r>
              <a:t>Resources are represented by endpoints and HTTP methods communicate intent: GET, POST, PUT and DELETE.</a:t>
            </a:r>
          </a:p>
        </p:txBody>
      </p:sp>
      <p:sp>
        <p:nvSpPr>
          <p:cNvPr id="11" name="Rounded Rectangle 10"/>
          <p:cNvSpPr/>
          <p:nvPr/>
        </p:nvSpPr>
        <p:spPr>
          <a:xfrm>
            <a:off x="7818120" y="1828800"/>
            <a:ext cx="356616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18120" y="1828800"/>
            <a:ext cx="64008" cy="2240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993392"/>
            <a:ext cx="3154679" cy="365760"/>
          </a:xfrm>
          <a:prstGeom prst="rect">
            <a:avLst/>
          </a:prstGeom>
          <a:noFill/>
        </p:spPr>
        <p:txBody>
          <a:bodyPr wrap="none">
            <a:spAutoFit/>
          </a:bodyPr>
          <a:lstStyle/>
          <a:p>
            <a:pPr>
              <a:defRPr sz="1500" b="1">
                <a:solidFill>
                  <a:srgbClr val="0F172A"/>
                </a:solidFill>
              </a:defRPr>
            </a:pPr>
            <a:r>
              <a:t>Interview angle</a:t>
            </a:r>
          </a:p>
        </p:txBody>
      </p:sp>
      <p:sp>
        <p:nvSpPr>
          <p:cNvPr id="14" name="TextBox 13"/>
          <p:cNvSpPr txBox="1"/>
          <p:nvPr/>
        </p:nvSpPr>
        <p:spPr>
          <a:xfrm>
            <a:off x="8046720" y="2450592"/>
            <a:ext cx="3154679" cy="1463040"/>
          </a:xfrm>
          <a:prstGeom prst="rect">
            <a:avLst/>
          </a:prstGeom>
          <a:noFill/>
        </p:spPr>
        <p:txBody>
          <a:bodyPr wrap="square">
            <a:spAutoFit/>
          </a:bodyPr>
          <a:lstStyle/>
          <a:p>
            <a:pPr>
              <a:defRPr sz="1200">
                <a:solidFill>
                  <a:srgbClr val="475569"/>
                </a:solidFill>
              </a:defRPr>
            </a:pPr>
            <a:r>
              <a:t>Know the expected status codes: 200, 201, 400, 401, 404, 500.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058400" cy="914400"/>
          </a:xfrm>
          <a:prstGeom prst="rect">
            <a:avLst/>
          </a:prstGeom>
          <a:noFill/>
        </p:spPr>
        <p:txBody>
          <a:bodyPr wrap="none">
            <a:spAutoFit/>
          </a:bodyPr>
          <a:lstStyle/>
          <a:p>
            <a:pPr>
              <a:defRPr sz="3600" b="1">
                <a:solidFill>
                  <a:srgbClr val="FFFFFF"/>
                </a:solidFill>
              </a:defRPr>
            </a:pPr>
            <a:r>
              <a:t>PART 3</a:t>
            </a:r>
          </a:p>
        </p:txBody>
      </p:sp>
      <p:sp>
        <p:nvSpPr>
          <p:cNvPr id="4" name="TextBox 3"/>
          <p:cNvSpPr txBox="1"/>
          <p:nvPr/>
        </p:nvSpPr>
        <p:spPr>
          <a:xfrm>
            <a:off x="914400" y="2743200"/>
            <a:ext cx="9601200" cy="914400"/>
          </a:xfrm>
          <a:prstGeom prst="rect">
            <a:avLst/>
          </a:prstGeom>
          <a:noFill/>
        </p:spPr>
        <p:txBody>
          <a:bodyPr wrap="none">
            <a:spAutoFit/>
          </a:bodyPr>
          <a:lstStyle/>
          <a:p>
            <a:pPr>
              <a:defRPr sz="1800">
                <a:solidFill>
                  <a:srgbClr val="CBD5E1"/>
                </a:solidFill>
              </a:defRPr>
            </a:pPr>
            <a:r>
              <a:t>Feature-by-feature explanation</a:t>
            </a:r>
          </a:p>
        </p:txBody>
      </p:sp>
      <p:sp>
        <p:nvSpPr>
          <p:cNvPr id="5" name="TextBox 4"/>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Features</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Authentication</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24</a:t>
            </a:r>
          </a:p>
        </p:txBody>
      </p:sp>
      <p:sp>
        <p:nvSpPr>
          <p:cNvPr id="7" name="Rounded Rectangle 6"/>
          <p:cNvSpPr/>
          <p:nvPr/>
        </p:nvSpPr>
        <p:spPr>
          <a:xfrm>
            <a:off x="777240" y="1828800"/>
            <a:ext cx="672084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2402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6309359" cy="365760"/>
          </a:xfrm>
          <a:prstGeom prst="rect">
            <a:avLst/>
          </a:prstGeom>
          <a:noFill/>
        </p:spPr>
        <p:txBody>
          <a:bodyPr wrap="none">
            <a:spAutoFit/>
          </a:bodyPr>
          <a:lstStyle/>
          <a:p>
            <a:pPr>
              <a:defRPr sz="1500" b="1">
                <a:solidFill>
                  <a:srgbClr val="0F172A"/>
                </a:solidFill>
              </a:defRPr>
            </a:pPr>
            <a:r>
              <a:t>Core explanation</a:t>
            </a:r>
          </a:p>
        </p:txBody>
      </p:sp>
      <p:sp>
        <p:nvSpPr>
          <p:cNvPr id="10" name="TextBox 9"/>
          <p:cNvSpPr txBox="1"/>
          <p:nvPr/>
        </p:nvSpPr>
        <p:spPr>
          <a:xfrm>
            <a:off x="1005840" y="2450592"/>
            <a:ext cx="6309359" cy="1463040"/>
          </a:xfrm>
          <a:prstGeom prst="rect">
            <a:avLst/>
          </a:prstGeom>
          <a:noFill/>
        </p:spPr>
        <p:txBody>
          <a:bodyPr wrap="square">
            <a:spAutoFit/>
          </a:bodyPr>
          <a:lstStyle/>
          <a:p>
            <a:pPr>
              <a:defRPr sz="1400">
                <a:solidFill>
                  <a:srgbClr val="475569"/>
                </a:solidFill>
              </a:defRPr>
            </a:pPr>
            <a:r>
              <a:t>Users can sign up, log in and access a protected dashboard.</a:t>
            </a:r>
          </a:p>
        </p:txBody>
      </p:sp>
      <p:sp>
        <p:nvSpPr>
          <p:cNvPr id="11" name="Rounded Rectangle 10"/>
          <p:cNvSpPr/>
          <p:nvPr/>
        </p:nvSpPr>
        <p:spPr>
          <a:xfrm>
            <a:off x="7818120" y="1828800"/>
            <a:ext cx="356616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18120" y="1828800"/>
            <a:ext cx="64008" cy="2240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993392"/>
            <a:ext cx="3154679" cy="365760"/>
          </a:xfrm>
          <a:prstGeom prst="rect">
            <a:avLst/>
          </a:prstGeom>
          <a:noFill/>
        </p:spPr>
        <p:txBody>
          <a:bodyPr wrap="none">
            <a:spAutoFit/>
          </a:bodyPr>
          <a:lstStyle/>
          <a:p>
            <a:pPr>
              <a:defRPr sz="1500" b="1">
                <a:solidFill>
                  <a:srgbClr val="0F172A"/>
                </a:solidFill>
              </a:defRPr>
            </a:pPr>
            <a:r>
              <a:t>Interview angle</a:t>
            </a:r>
          </a:p>
        </p:txBody>
      </p:sp>
      <p:sp>
        <p:nvSpPr>
          <p:cNvPr id="14" name="TextBox 13"/>
          <p:cNvSpPr txBox="1"/>
          <p:nvPr/>
        </p:nvSpPr>
        <p:spPr>
          <a:xfrm>
            <a:off x="8046720" y="2450592"/>
            <a:ext cx="3154679" cy="1463040"/>
          </a:xfrm>
          <a:prstGeom prst="rect">
            <a:avLst/>
          </a:prstGeom>
          <a:noFill/>
        </p:spPr>
        <p:txBody>
          <a:bodyPr wrap="square">
            <a:spAutoFit/>
          </a:bodyPr>
          <a:lstStyle/>
          <a:p>
            <a:pPr>
              <a:defRPr sz="1200">
                <a:solidFill>
                  <a:srgbClr val="475569"/>
                </a:solidFill>
              </a:defRPr>
            </a:pPr>
            <a:r>
              <a:t>Explain both the user experience and server-side protection.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Features</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Campaign creation</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25</a:t>
            </a:r>
          </a:p>
        </p:txBody>
      </p:sp>
      <p:sp>
        <p:nvSpPr>
          <p:cNvPr id="7" name="Rounded Rectangle 6"/>
          <p:cNvSpPr/>
          <p:nvPr/>
        </p:nvSpPr>
        <p:spPr>
          <a:xfrm>
            <a:off x="777240" y="1828800"/>
            <a:ext cx="672084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2402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6309359" cy="365760"/>
          </a:xfrm>
          <a:prstGeom prst="rect">
            <a:avLst/>
          </a:prstGeom>
          <a:noFill/>
        </p:spPr>
        <p:txBody>
          <a:bodyPr wrap="none">
            <a:spAutoFit/>
          </a:bodyPr>
          <a:lstStyle/>
          <a:p>
            <a:pPr>
              <a:defRPr sz="1500" b="1">
                <a:solidFill>
                  <a:srgbClr val="0F172A"/>
                </a:solidFill>
              </a:defRPr>
            </a:pPr>
            <a:r>
              <a:t>Core explanation</a:t>
            </a:r>
          </a:p>
        </p:txBody>
      </p:sp>
      <p:sp>
        <p:nvSpPr>
          <p:cNvPr id="10" name="TextBox 9"/>
          <p:cNvSpPr txBox="1"/>
          <p:nvPr/>
        </p:nvSpPr>
        <p:spPr>
          <a:xfrm>
            <a:off x="1005840" y="2450592"/>
            <a:ext cx="6309359" cy="1463040"/>
          </a:xfrm>
          <a:prstGeom prst="rect">
            <a:avLst/>
          </a:prstGeom>
          <a:noFill/>
        </p:spPr>
        <p:txBody>
          <a:bodyPr wrap="square">
            <a:spAutoFit/>
          </a:bodyPr>
          <a:lstStyle/>
          <a:p>
            <a:pPr>
              <a:defRPr sz="1400">
                <a:solidFill>
                  <a:srgbClr val="475569"/>
                </a:solidFill>
              </a:defRPr>
            </a:pPr>
            <a:r>
              <a:t>A reusable dialog collects campaign name, brand, product, goal, audience and budget; React Hook Form manages form state and Zod validates it.</a:t>
            </a:r>
          </a:p>
        </p:txBody>
      </p:sp>
      <p:sp>
        <p:nvSpPr>
          <p:cNvPr id="11" name="Rounded Rectangle 10"/>
          <p:cNvSpPr/>
          <p:nvPr/>
        </p:nvSpPr>
        <p:spPr>
          <a:xfrm>
            <a:off x="7818120" y="1828800"/>
            <a:ext cx="356616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18120" y="1828800"/>
            <a:ext cx="64008" cy="2240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993392"/>
            <a:ext cx="3154679" cy="365760"/>
          </a:xfrm>
          <a:prstGeom prst="rect">
            <a:avLst/>
          </a:prstGeom>
          <a:noFill/>
        </p:spPr>
        <p:txBody>
          <a:bodyPr wrap="none">
            <a:spAutoFit/>
          </a:bodyPr>
          <a:lstStyle/>
          <a:p>
            <a:pPr>
              <a:defRPr sz="1500" b="1">
                <a:solidFill>
                  <a:srgbClr val="0F172A"/>
                </a:solidFill>
              </a:defRPr>
            </a:pPr>
            <a:r>
              <a:t>Interview angle</a:t>
            </a:r>
          </a:p>
        </p:txBody>
      </p:sp>
      <p:sp>
        <p:nvSpPr>
          <p:cNvPr id="14" name="TextBox 13"/>
          <p:cNvSpPr txBox="1"/>
          <p:nvPr/>
        </p:nvSpPr>
        <p:spPr>
          <a:xfrm>
            <a:off x="8046720" y="2450592"/>
            <a:ext cx="3154679" cy="1463040"/>
          </a:xfrm>
          <a:prstGeom prst="rect">
            <a:avLst/>
          </a:prstGeom>
          <a:noFill/>
        </p:spPr>
        <p:txBody>
          <a:bodyPr wrap="square">
            <a:spAutoFit/>
          </a:bodyPr>
          <a:lstStyle/>
          <a:p>
            <a:pPr>
              <a:defRPr sz="1200">
                <a:solidFill>
                  <a:srgbClr val="475569"/>
                </a:solidFill>
              </a:defRPr>
            </a:pPr>
            <a:r>
              <a:t>Client validation improves UX; API validation remains mandatory.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Features</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Campaign editing</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26</a:t>
            </a:r>
          </a:p>
        </p:txBody>
      </p:sp>
      <p:sp>
        <p:nvSpPr>
          <p:cNvPr id="7" name="Rounded Rectangle 6"/>
          <p:cNvSpPr/>
          <p:nvPr/>
        </p:nvSpPr>
        <p:spPr>
          <a:xfrm>
            <a:off x="777240" y="1828800"/>
            <a:ext cx="672084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2402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6309359" cy="365760"/>
          </a:xfrm>
          <a:prstGeom prst="rect">
            <a:avLst/>
          </a:prstGeom>
          <a:noFill/>
        </p:spPr>
        <p:txBody>
          <a:bodyPr wrap="none">
            <a:spAutoFit/>
          </a:bodyPr>
          <a:lstStyle/>
          <a:p>
            <a:pPr>
              <a:defRPr sz="1500" b="1">
                <a:solidFill>
                  <a:srgbClr val="0F172A"/>
                </a:solidFill>
              </a:defRPr>
            </a:pPr>
            <a:r>
              <a:t>Core explanation</a:t>
            </a:r>
          </a:p>
        </p:txBody>
      </p:sp>
      <p:sp>
        <p:nvSpPr>
          <p:cNvPr id="10" name="TextBox 9"/>
          <p:cNvSpPr txBox="1"/>
          <p:nvPr/>
        </p:nvSpPr>
        <p:spPr>
          <a:xfrm>
            <a:off x="1005840" y="2450592"/>
            <a:ext cx="6309359" cy="1463040"/>
          </a:xfrm>
          <a:prstGeom prst="rect">
            <a:avLst/>
          </a:prstGeom>
          <a:noFill/>
        </p:spPr>
        <p:txBody>
          <a:bodyPr wrap="square">
            <a:spAutoFit/>
          </a:bodyPr>
          <a:lstStyle/>
          <a:p>
            <a:pPr>
              <a:defRPr sz="1400">
                <a:solidFill>
                  <a:srgbClr val="475569"/>
                </a:solidFill>
              </a:defRPr>
            </a:pPr>
            <a:r>
              <a:t>The same dialog is reused for create and edit. Existing campaign values are loaded into the form and PUT updates the record.</a:t>
            </a:r>
          </a:p>
        </p:txBody>
      </p:sp>
      <p:sp>
        <p:nvSpPr>
          <p:cNvPr id="11" name="Rounded Rectangle 10"/>
          <p:cNvSpPr/>
          <p:nvPr/>
        </p:nvSpPr>
        <p:spPr>
          <a:xfrm>
            <a:off x="7818120" y="1828800"/>
            <a:ext cx="356616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18120" y="1828800"/>
            <a:ext cx="64008" cy="2240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993392"/>
            <a:ext cx="3154679" cy="365760"/>
          </a:xfrm>
          <a:prstGeom prst="rect">
            <a:avLst/>
          </a:prstGeom>
          <a:noFill/>
        </p:spPr>
        <p:txBody>
          <a:bodyPr wrap="none">
            <a:spAutoFit/>
          </a:bodyPr>
          <a:lstStyle/>
          <a:p>
            <a:pPr>
              <a:defRPr sz="1500" b="1">
                <a:solidFill>
                  <a:srgbClr val="0F172A"/>
                </a:solidFill>
              </a:defRPr>
            </a:pPr>
            <a:r>
              <a:t>Interview angle</a:t>
            </a:r>
          </a:p>
        </p:txBody>
      </p:sp>
      <p:sp>
        <p:nvSpPr>
          <p:cNvPr id="14" name="TextBox 13"/>
          <p:cNvSpPr txBox="1"/>
          <p:nvPr/>
        </p:nvSpPr>
        <p:spPr>
          <a:xfrm>
            <a:off x="8046720" y="2450592"/>
            <a:ext cx="3154679" cy="1463040"/>
          </a:xfrm>
          <a:prstGeom prst="rect">
            <a:avLst/>
          </a:prstGeom>
          <a:noFill/>
        </p:spPr>
        <p:txBody>
          <a:bodyPr wrap="square">
            <a:spAutoFit/>
          </a:bodyPr>
          <a:lstStyle/>
          <a:p>
            <a:pPr>
              <a:defRPr sz="1200">
                <a:solidFill>
                  <a:srgbClr val="475569"/>
                </a:solidFill>
              </a:defRPr>
            </a:pPr>
            <a:r>
              <a:t>Good example of component reuse.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Features</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Campaign deletion</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27</a:t>
            </a:r>
          </a:p>
        </p:txBody>
      </p:sp>
      <p:sp>
        <p:nvSpPr>
          <p:cNvPr id="7" name="Rounded Rectangle 6"/>
          <p:cNvSpPr/>
          <p:nvPr/>
        </p:nvSpPr>
        <p:spPr>
          <a:xfrm>
            <a:off x="777240" y="1828800"/>
            <a:ext cx="672084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2402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6309359" cy="365760"/>
          </a:xfrm>
          <a:prstGeom prst="rect">
            <a:avLst/>
          </a:prstGeom>
          <a:noFill/>
        </p:spPr>
        <p:txBody>
          <a:bodyPr wrap="none">
            <a:spAutoFit/>
          </a:bodyPr>
          <a:lstStyle/>
          <a:p>
            <a:pPr>
              <a:defRPr sz="1500" b="1">
                <a:solidFill>
                  <a:srgbClr val="0F172A"/>
                </a:solidFill>
              </a:defRPr>
            </a:pPr>
            <a:r>
              <a:t>Core explanation</a:t>
            </a:r>
          </a:p>
        </p:txBody>
      </p:sp>
      <p:sp>
        <p:nvSpPr>
          <p:cNvPr id="10" name="TextBox 9"/>
          <p:cNvSpPr txBox="1"/>
          <p:nvPr/>
        </p:nvSpPr>
        <p:spPr>
          <a:xfrm>
            <a:off x="1005840" y="2450592"/>
            <a:ext cx="6309359" cy="1463040"/>
          </a:xfrm>
          <a:prstGeom prst="rect">
            <a:avLst/>
          </a:prstGeom>
          <a:noFill/>
        </p:spPr>
        <p:txBody>
          <a:bodyPr wrap="square">
            <a:spAutoFit/>
          </a:bodyPr>
          <a:lstStyle/>
          <a:p>
            <a:pPr>
              <a:defRPr sz="1400">
                <a:solidFill>
                  <a:srgbClr val="475569"/>
                </a:solidFill>
              </a:defRPr>
            </a:pPr>
            <a:r>
              <a:t>The UI confirms deletion, sends DELETE and refreshes the campaign view after success.</a:t>
            </a:r>
          </a:p>
        </p:txBody>
      </p:sp>
      <p:sp>
        <p:nvSpPr>
          <p:cNvPr id="11" name="Rounded Rectangle 10"/>
          <p:cNvSpPr/>
          <p:nvPr/>
        </p:nvSpPr>
        <p:spPr>
          <a:xfrm>
            <a:off x="7818120" y="1828800"/>
            <a:ext cx="356616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18120" y="1828800"/>
            <a:ext cx="64008" cy="2240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993392"/>
            <a:ext cx="3154679" cy="365760"/>
          </a:xfrm>
          <a:prstGeom prst="rect">
            <a:avLst/>
          </a:prstGeom>
          <a:noFill/>
        </p:spPr>
        <p:txBody>
          <a:bodyPr wrap="none">
            <a:spAutoFit/>
          </a:bodyPr>
          <a:lstStyle/>
          <a:p>
            <a:pPr>
              <a:defRPr sz="1500" b="1">
                <a:solidFill>
                  <a:srgbClr val="0F172A"/>
                </a:solidFill>
              </a:defRPr>
            </a:pPr>
            <a:r>
              <a:t>Interview angle</a:t>
            </a:r>
          </a:p>
        </p:txBody>
      </p:sp>
      <p:sp>
        <p:nvSpPr>
          <p:cNvPr id="14" name="TextBox 13"/>
          <p:cNvSpPr txBox="1"/>
          <p:nvPr/>
        </p:nvSpPr>
        <p:spPr>
          <a:xfrm>
            <a:off x="8046720" y="2450592"/>
            <a:ext cx="3154679" cy="1463040"/>
          </a:xfrm>
          <a:prstGeom prst="rect">
            <a:avLst/>
          </a:prstGeom>
          <a:noFill/>
        </p:spPr>
        <p:txBody>
          <a:bodyPr wrap="square">
            <a:spAutoFit/>
          </a:bodyPr>
          <a:lstStyle/>
          <a:p>
            <a:pPr>
              <a:defRPr sz="1200">
                <a:solidFill>
                  <a:srgbClr val="475569"/>
                </a:solidFill>
              </a:defRPr>
            </a:pPr>
            <a:r>
              <a:t>A future improvement could update local state instead of a full reload.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Features</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AI generation</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28</a:t>
            </a:r>
          </a:p>
        </p:txBody>
      </p:sp>
      <p:sp>
        <p:nvSpPr>
          <p:cNvPr id="7" name="Rounded Rectangle 6"/>
          <p:cNvSpPr/>
          <p:nvPr/>
        </p:nvSpPr>
        <p:spPr>
          <a:xfrm>
            <a:off x="777240" y="1828800"/>
            <a:ext cx="672084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2402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6309359" cy="365760"/>
          </a:xfrm>
          <a:prstGeom prst="rect">
            <a:avLst/>
          </a:prstGeom>
          <a:noFill/>
        </p:spPr>
        <p:txBody>
          <a:bodyPr wrap="none">
            <a:spAutoFit/>
          </a:bodyPr>
          <a:lstStyle/>
          <a:p>
            <a:pPr>
              <a:defRPr sz="1500" b="1">
                <a:solidFill>
                  <a:srgbClr val="0F172A"/>
                </a:solidFill>
              </a:defRPr>
            </a:pPr>
            <a:r>
              <a:t>Core explanation</a:t>
            </a:r>
          </a:p>
        </p:txBody>
      </p:sp>
      <p:sp>
        <p:nvSpPr>
          <p:cNvPr id="10" name="TextBox 9"/>
          <p:cNvSpPr txBox="1"/>
          <p:nvPr/>
        </p:nvSpPr>
        <p:spPr>
          <a:xfrm>
            <a:off x="1005840" y="2450592"/>
            <a:ext cx="6309359" cy="1463040"/>
          </a:xfrm>
          <a:prstGeom prst="rect">
            <a:avLst/>
          </a:prstGeom>
          <a:noFill/>
        </p:spPr>
        <p:txBody>
          <a:bodyPr wrap="square">
            <a:spAutoFit/>
          </a:bodyPr>
          <a:lstStyle/>
          <a:p>
            <a:pPr>
              <a:defRPr sz="1400">
                <a:solidFill>
                  <a:srgbClr val="475569"/>
                </a:solidFill>
              </a:defRPr>
            </a:pPr>
            <a:r>
              <a:t>The user requests structured marketing content such as headline, social copy, email subject/body and CTA.</a:t>
            </a:r>
          </a:p>
        </p:txBody>
      </p:sp>
      <p:sp>
        <p:nvSpPr>
          <p:cNvPr id="11" name="Rounded Rectangle 10"/>
          <p:cNvSpPr/>
          <p:nvPr/>
        </p:nvSpPr>
        <p:spPr>
          <a:xfrm>
            <a:off x="7818120" y="1828800"/>
            <a:ext cx="356616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18120" y="1828800"/>
            <a:ext cx="64008" cy="2240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993392"/>
            <a:ext cx="3154679" cy="365760"/>
          </a:xfrm>
          <a:prstGeom prst="rect">
            <a:avLst/>
          </a:prstGeom>
          <a:noFill/>
        </p:spPr>
        <p:txBody>
          <a:bodyPr wrap="none">
            <a:spAutoFit/>
          </a:bodyPr>
          <a:lstStyle/>
          <a:p>
            <a:pPr>
              <a:defRPr sz="1500" b="1">
                <a:solidFill>
                  <a:srgbClr val="0F172A"/>
                </a:solidFill>
              </a:defRPr>
            </a:pPr>
            <a:r>
              <a:t>Interview angle</a:t>
            </a:r>
          </a:p>
        </p:txBody>
      </p:sp>
      <p:sp>
        <p:nvSpPr>
          <p:cNvPr id="14" name="TextBox 13"/>
          <p:cNvSpPr txBox="1"/>
          <p:nvPr/>
        </p:nvSpPr>
        <p:spPr>
          <a:xfrm>
            <a:off x="8046720" y="2450592"/>
            <a:ext cx="3154679" cy="1463040"/>
          </a:xfrm>
          <a:prstGeom prst="rect">
            <a:avLst/>
          </a:prstGeom>
          <a:noFill/>
        </p:spPr>
        <p:txBody>
          <a:bodyPr wrap="square">
            <a:spAutoFit/>
          </a:bodyPr>
          <a:lstStyle/>
          <a:p>
            <a:pPr>
              <a:defRPr sz="1200">
                <a:solidFill>
                  <a:srgbClr val="475569"/>
                </a:solidFill>
              </a:defRPr>
            </a:pPr>
            <a:r>
              <a:t>Explain that AI assists content creation; business ownership remains in your database.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Features</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Previous generations</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29</a:t>
            </a:r>
          </a:p>
        </p:txBody>
      </p:sp>
      <p:sp>
        <p:nvSpPr>
          <p:cNvPr id="7" name="Rounded Rectangle 6"/>
          <p:cNvSpPr/>
          <p:nvPr/>
        </p:nvSpPr>
        <p:spPr>
          <a:xfrm>
            <a:off x="777240" y="1828800"/>
            <a:ext cx="672084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2402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6309359" cy="365760"/>
          </a:xfrm>
          <a:prstGeom prst="rect">
            <a:avLst/>
          </a:prstGeom>
          <a:noFill/>
        </p:spPr>
        <p:txBody>
          <a:bodyPr wrap="none">
            <a:spAutoFit/>
          </a:bodyPr>
          <a:lstStyle/>
          <a:p>
            <a:pPr>
              <a:defRPr sz="1500" b="1">
                <a:solidFill>
                  <a:srgbClr val="0F172A"/>
                </a:solidFill>
              </a:defRPr>
            </a:pPr>
            <a:r>
              <a:t>Core explanation</a:t>
            </a:r>
          </a:p>
        </p:txBody>
      </p:sp>
      <p:sp>
        <p:nvSpPr>
          <p:cNvPr id="10" name="TextBox 9"/>
          <p:cNvSpPr txBox="1"/>
          <p:nvPr/>
        </p:nvSpPr>
        <p:spPr>
          <a:xfrm>
            <a:off x="1005840" y="2450592"/>
            <a:ext cx="6309359" cy="1463040"/>
          </a:xfrm>
          <a:prstGeom prst="rect">
            <a:avLst/>
          </a:prstGeom>
          <a:noFill/>
        </p:spPr>
        <p:txBody>
          <a:bodyPr wrap="square">
            <a:spAutoFit/>
          </a:bodyPr>
          <a:lstStyle/>
          <a:p>
            <a:pPr>
              <a:defRPr sz="1400">
                <a:solidFill>
                  <a:srgbClr val="475569"/>
                </a:solidFill>
              </a:defRPr>
            </a:pPr>
            <a:r>
              <a:t>Generated content is persisted so users can inspect earlier versions instead of losing them when a new generation is created.</a:t>
            </a:r>
          </a:p>
        </p:txBody>
      </p:sp>
      <p:sp>
        <p:nvSpPr>
          <p:cNvPr id="11" name="Rounded Rectangle 10"/>
          <p:cNvSpPr/>
          <p:nvPr/>
        </p:nvSpPr>
        <p:spPr>
          <a:xfrm>
            <a:off x="7818120" y="1828800"/>
            <a:ext cx="356616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18120" y="1828800"/>
            <a:ext cx="64008" cy="2240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993392"/>
            <a:ext cx="3154679" cy="365760"/>
          </a:xfrm>
          <a:prstGeom prst="rect">
            <a:avLst/>
          </a:prstGeom>
          <a:noFill/>
        </p:spPr>
        <p:txBody>
          <a:bodyPr wrap="none">
            <a:spAutoFit/>
          </a:bodyPr>
          <a:lstStyle/>
          <a:p>
            <a:pPr>
              <a:defRPr sz="1500" b="1">
                <a:solidFill>
                  <a:srgbClr val="0F172A"/>
                </a:solidFill>
              </a:defRPr>
            </a:pPr>
            <a:r>
              <a:t>Interview angle</a:t>
            </a:r>
          </a:p>
        </p:txBody>
      </p:sp>
      <p:sp>
        <p:nvSpPr>
          <p:cNvPr id="14" name="TextBox 13"/>
          <p:cNvSpPr txBox="1"/>
          <p:nvPr/>
        </p:nvSpPr>
        <p:spPr>
          <a:xfrm>
            <a:off x="8046720" y="2450592"/>
            <a:ext cx="3154679" cy="1463040"/>
          </a:xfrm>
          <a:prstGeom prst="rect">
            <a:avLst/>
          </a:prstGeom>
          <a:noFill/>
        </p:spPr>
        <p:txBody>
          <a:bodyPr wrap="square">
            <a:spAutoFit/>
          </a:bodyPr>
          <a:lstStyle/>
          <a:p>
            <a:pPr>
              <a:defRPr sz="1200">
                <a:solidFill>
                  <a:srgbClr val="475569"/>
                </a:solidFill>
              </a:defRPr>
            </a:pPr>
            <a:r>
              <a:t>This demonstrates durable state versus UI state.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Features</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Dynamic landing page</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30</a:t>
            </a:r>
          </a:p>
        </p:txBody>
      </p:sp>
      <p:sp>
        <p:nvSpPr>
          <p:cNvPr id="7" name="Rounded Rectangle 6"/>
          <p:cNvSpPr/>
          <p:nvPr/>
        </p:nvSpPr>
        <p:spPr>
          <a:xfrm>
            <a:off x="777240" y="1828800"/>
            <a:ext cx="672084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2402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6309359" cy="365760"/>
          </a:xfrm>
          <a:prstGeom prst="rect">
            <a:avLst/>
          </a:prstGeom>
          <a:noFill/>
        </p:spPr>
        <p:txBody>
          <a:bodyPr wrap="none">
            <a:spAutoFit/>
          </a:bodyPr>
          <a:lstStyle/>
          <a:p>
            <a:pPr>
              <a:defRPr sz="1500" b="1">
                <a:solidFill>
                  <a:srgbClr val="0F172A"/>
                </a:solidFill>
              </a:defRPr>
            </a:pPr>
            <a:r>
              <a:t>Core explanation</a:t>
            </a:r>
          </a:p>
        </p:txBody>
      </p:sp>
      <p:sp>
        <p:nvSpPr>
          <p:cNvPr id="10" name="TextBox 9"/>
          <p:cNvSpPr txBox="1"/>
          <p:nvPr/>
        </p:nvSpPr>
        <p:spPr>
          <a:xfrm>
            <a:off x="1005840" y="2450592"/>
            <a:ext cx="6309359" cy="1463040"/>
          </a:xfrm>
          <a:prstGeom prst="rect">
            <a:avLst/>
          </a:prstGeom>
          <a:noFill/>
        </p:spPr>
        <p:txBody>
          <a:bodyPr wrap="square">
            <a:spAutoFit/>
          </a:bodyPr>
          <a:lstStyle/>
          <a:p>
            <a:pPr>
              <a:defRPr sz="1400">
                <a:solidFill>
                  <a:srgbClr val="475569"/>
                </a:solidFill>
              </a:defRPr>
            </a:pPr>
            <a:r>
              <a:t>Each campaign is rendered through /campaign/[id], so one page implementation can display different campaign data.</a:t>
            </a:r>
          </a:p>
        </p:txBody>
      </p:sp>
      <p:sp>
        <p:nvSpPr>
          <p:cNvPr id="11" name="Rounded Rectangle 10"/>
          <p:cNvSpPr/>
          <p:nvPr/>
        </p:nvSpPr>
        <p:spPr>
          <a:xfrm>
            <a:off x="7818120" y="1828800"/>
            <a:ext cx="356616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18120" y="1828800"/>
            <a:ext cx="64008" cy="2240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993392"/>
            <a:ext cx="3154679" cy="365760"/>
          </a:xfrm>
          <a:prstGeom prst="rect">
            <a:avLst/>
          </a:prstGeom>
          <a:noFill/>
        </p:spPr>
        <p:txBody>
          <a:bodyPr wrap="none">
            <a:spAutoFit/>
          </a:bodyPr>
          <a:lstStyle/>
          <a:p>
            <a:pPr>
              <a:defRPr sz="1500" b="1">
                <a:solidFill>
                  <a:srgbClr val="0F172A"/>
                </a:solidFill>
              </a:defRPr>
            </a:pPr>
            <a:r>
              <a:t>Interview angle</a:t>
            </a:r>
          </a:p>
        </p:txBody>
      </p:sp>
      <p:sp>
        <p:nvSpPr>
          <p:cNvPr id="14" name="TextBox 13"/>
          <p:cNvSpPr txBox="1"/>
          <p:nvPr/>
        </p:nvSpPr>
        <p:spPr>
          <a:xfrm>
            <a:off x="8046720" y="2450592"/>
            <a:ext cx="3154679" cy="1463040"/>
          </a:xfrm>
          <a:prstGeom prst="rect">
            <a:avLst/>
          </a:prstGeom>
          <a:noFill/>
        </p:spPr>
        <p:txBody>
          <a:bodyPr wrap="square">
            <a:spAutoFit/>
          </a:bodyPr>
          <a:lstStyle/>
          <a:p>
            <a:pPr>
              <a:defRPr sz="1200">
                <a:solidFill>
                  <a:srgbClr val="475569"/>
                </a:solidFill>
              </a:defRPr>
            </a:pPr>
            <a:r>
              <a:t>Dynamic routing avoids hard-coded pages.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Features</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CTA → lead form</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31</a:t>
            </a:r>
          </a:p>
        </p:txBody>
      </p:sp>
      <p:sp>
        <p:nvSpPr>
          <p:cNvPr id="7" name="Rounded Rectangle 6"/>
          <p:cNvSpPr/>
          <p:nvPr/>
        </p:nvSpPr>
        <p:spPr>
          <a:xfrm>
            <a:off x="777240" y="1828800"/>
            <a:ext cx="672084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2402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6309359" cy="365760"/>
          </a:xfrm>
          <a:prstGeom prst="rect">
            <a:avLst/>
          </a:prstGeom>
          <a:noFill/>
        </p:spPr>
        <p:txBody>
          <a:bodyPr wrap="none">
            <a:spAutoFit/>
          </a:bodyPr>
          <a:lstStyle/>
          <a:p>
            <a:pPr>
              <a:defRPr sz="1500" b="1">
                <a:solidFill>
                  <a:srgbClr val="0F172A"/>
                </a:solidFill>
              </a:defRPr>
            </a:pPr>
            <a:r>
              <a:t>Core explanation</a:t>
            </a:r>
          </a:p>
        </p:txBody>
      </p:sp>
      <p:sp>
        <p:nvSpPr>
          <p:cNvPr id="10" name="TextBox 9"/>
          <p:cNvSpPr txBox="1"/>
          <p:nvPr/>
        </p:nvSpPr>
        <p:spPr>
          <a:xfrm>
            <a:off x="1005840" y="2450592"/>
            <a:ext cx="6309359" cy="1463040"/>
          </a:xfrm>
          <a:prstGeom prst="rect">
            <a:avLst/>
          </a:prstGeom>
          <a:noFill/>
        </p:spPr>
        <p:txBody>
          <a:bodyPr wrap="square">
            <a:spAutoFit/>
          </a:bodyPr>
          <a:lstStyle/>
          <a:p>
            <a:pPr>
              <a:defRPr sz="1400">
                <a:solidFill>
                  <a:srgbClr val="475569"/>
                </a:solidFill>
              </a:defRPr>
            </a:pPr>
            <a:r>
              <a:t>The Shop/CTA button uses an anchor such as #lead-form to move to the form on the same landing page.</a:t>
            </a:r>
          </a:p>
        </p:txBody>
      </p:sp>
      <p:sp>
        <p:nvSpPr>
          <p:cNvPr id="11" name="Rounded Rectangle 10"/>
          <p:cNvSpPr/>
          <p:nvPr/>
        </p:nvSpPr>
        <p:spPr>
          <a:xfrm>
            <a:off x="7818120" y="1828800"/>
            <a:ext cx="356616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18120" y="1828800"/>
            <a:ext cx="64008" cy="2240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993392"/>
            <a:ext cx="3154679" cy="365760"/>
          </a:xfrm>
          <a:prstGeom prst="rect">
            <a:avLst/>
          </a:prstGeom>
          <a:noFill/>
        </p:spPr>
        <p:txBody>
          <a:bodyPr wrap="none">
            <a:spAutoFit/>
          </a:bodyPr>
          <a:lstStyle/>
          <a:p>
            <a:pPr>
              <a:defRPr sz="1500" b="1">
                <a:solidFill>
                  <a:srgbClr val="0F172A"/>
                </a:solidFill>
              </a:defRPr>
            </a:pPr>
            <a:r>
              <a:t>Interview angle</a:t>
            </a:r>
          </a:p>
        </p:txBody>
      </p:sp>
      <p:sp>
        <p:nvSpPr>
          <p:cNvPr id="14" name="TextBox 13"/>
          <p:cNvSpPr txBox="1"/>
          <p:nvPr/>
        </p:nvSpPr>
        <p:spPr>
          <a:xfrm>
            <a:off x="8046720" y="2450592"/>
            <a:ext cx="3154679" cy="1463040"/>
          </a:xfrm>
          <a:prstGeom prst="rect">
            <a:avLst/>
          </a:prstGeom>
          <a:noFill/>
        </p:spPr>
        <p:txBody>
          <a:bodyPr wrap="square">
            <a:spAutoFit/>
          </a:bodyPr>
          <a:lstStyle/>
          <a:p>
            <a:pPr>
              <a:defRPr sz="1200">
                <a:solidFill>
                  <a:srgbClr val="475569"/>
                </a:solidFill>
              </a:defRPr>
            </a:pPr>
            <a:r>
              <a:t>The hash is page navigation, not a new route.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Features</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Lead capture</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32</a:t>
            </a:r>
          </a:p>
        </p:txBody>
      </p:sp>
      <p:sp>
        <p:nvSpPr>
          <p:cNvPr id="7" name="Rounded Rectangle 6"/>
          <p:cNvSpPr/>
          <p:nvPr/>
        </p:nvSpPr>
        <p:spPr>
          <a:xfrm>
            <a:off x="777240" y="1828800"/>
            <a:ext cx="672084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2402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6309359" cy="365760"/>
          </a:xfrm>
          <a:prstGeom prst="rect">
            <a:avLst/>
          </a:prstGeom>
          <a:noFill/>
        </p:spPr>
        <p:txBody>
          <a:bodyPr wrap="none">
            <a:spAutoFit/>
          </a:bodyPr>
          <a:lstStyle/>
          <a:p>
            <a:pPr>
              <a:defRPr sz="1500" b="1">
                <a:solidFill>
                  <a:srgbClr val="0F172A"/>
                </a:solidFill>
              </a:defRPr>
            </a:pPr>
            <a:r>
              <a:t>Core explanation</a:t>
            </a:r>
          </a:p>
        </p:txBody>
      </p:sp>
      <p:sp>
        <p:nvSpPr>
          <p:cNvPr id="10" name="TextBox 9"/>
          <p:cNvSpPr txBox="1"/>
          <p:nvPr/>
        </p:nvSpPr>
        <p:spPr>
          <a:xfrm>
            <a:off x="1005840" y="2450592"/>
            <a:ext cx="6309359" cy="1463040"/>
          </a:xfrm>
          <a:prstGeom prst="rect">
            <a:avLst/>
          </a:prstGeom>
          <a:noFill/>
        </p:spPr>
        <p:txBody>
          <a:bodyPr wrap="square">
            <a:spAutoFit/>
          </a:bodyPr>
          <a:lstStyle/>
          <a:p>
            <a:pPr>
              <a:defRPr sz="1400">
                <a:solidFill>
                  <a:srgbClr val="475569"/>
                </a:solidFill>
              </a:defRPr>
            </a:pPr>
            <a:r>
              <a:t>The public form validates name/email, verifies the campaign, stores the lead and records a LEAD_CAPTURE event.</a:t>
            </a:r>
          </a:p>
        </p:txBody>
      </p:sp>
      <p:sp>
        <p:nvSpPr>
          <p:cNvPr id="11" name="Rounded Rectangle 10"/>
          <p:cNvSpPr/>
          <p:nvPr/>
        </p:nvSpPr>
        <p:spPr>
          <a:xfrm>
            <a:off x="7818120" y="1828800"/>
            <a:ext cx="356616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18120" y="1828800"/>
            <a:ext cx="64008" cy="2240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993392"/>
            <a:ext cx="3154679" cy="365760"/>
          </a:xfrm>
          <a:prstGeom prst="rect">
            <a:avLst/>
          </a:prstGeom>
          <a:noFill/>
        </p:spPr>
        <p:txBody>
          <a:bodyPr wrap="none">
            <a:spAutoFit/>
          </a:bodyPr>
          <a:lstStyle/>
          <a:p>
            <a:pPr>
              <a:defRPr sz="1500" b="1">
                <a:solidFill>
                  <a:srgbClr val="0F172A"/>
                </a:solidFill>
              </a:defRPr>
            </a:pPr>
            <a:r>
              <a:t>Interview angle</a:t>
            </a:r>
          </a:p>
        </p:txBody>
      </p:sp>
      <p:sp>
        <p:nvSpPr>
          <p:cNvPr id="14" name="TextBox 13"/>
          <p:cNvSpPr txBox="1"/>
          <p:nvPr/>
        </p:nvSpPr>
        <p:spPr>
          <a:xfrm>
            <a:off x="8046720" y="2450592"/>
            <a:ext cx="3154679" cy="1463040"/>
          </a:xfrm>
          <a:prstGeom prst="rect">
            <a:avLst/>
          </a:prstGeom>
          <a:noFill/>
        </p:spPr>
        <p:txBody>
          <a:bodyPr wrap="square">
            <a:spAutoFit/>
          </a:bodyPr>
          <a:lstStyle/>
          <a:p>
            <a:pPr>
              <a:defRPr sz="1200">
                <a:solidFill>
                  <a:srgbClr val="475569"/>
                </a:solidFill>
              </a:defRPr>
            </a:pPr>
            <a:r>
              <a:t>This is the conversion point of the workflow.</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Features</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Analytics</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33</a:t>
            </a:r>
          </a:p>
        </p:txBody>
      </p:sp>
      <p:sp>
        <p:nvSpPr>
          <p:cNvPr id="7" name="Rounded Rectangle 6"/>
          <p:cNvSpPr/>
          <p:nvPr/>
        </p:nvSpPr>
        <p:spPr>
          <a:xfrm>
            <a:off x="777240" y="1828800"/>
            <a:ext cx="672084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2402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6309359" cy="365760"/>
          </a:xfrm>
          <a:prstGeom prst="rect">
            <a:avLst/>
          </a:prstGeom>
          <a:noFill/>
        </p:spPr>
        <p:txBody>
          <a:bodyPr wrap="none">
            <a:spAutoFit/>
          </a:bodyPr>
          <a:lstStyle/>
          <a:p>
            <a:pPr>
              <a:defRPr sz="1500" b="1">
                <a:solidFill>
                  <a:srgbClr val="0F172A"/>
                </a:solidFill>
              </a:defRPr>
            </a:pPr>
            <a:r>
              <a:t>Core explanation</a:t>
            </a:r>
          </a:p>
        </p:txBody>
      </p:sp>
      <p:sp>
        <p:nvSpPr>
          <p:cNvPr id="10" name="TextBox 9"/>
          <p:cNvSpPr txBox="1"/>
          <p:nvPr/>
        </p:nvSpPr>
        <p:spPr>
          <a:xfrm>
            <a:off x="1005840" y="2450592"/>
            <a:ext cx="6309359" cy="1463040"/>
          </a:xfrm>
          <a:prstGeom prst="rect">
            <a:avLst/>
          </a:prstGeom>
          <a:noFill/>
        </p:spPr>
        <p:txBody>
          <a:bodyPr wrap="square">
            <a:spAutoFit/>
          </a:bodyPr>
          <a:lstStyle/>
          <a:p>
            <a:pPr>
              <a:defRPr sz="1400">
                <a:solidFill>
                  <a:srgbClr val="475569"/>
                </a:solidFill>
              </a:defRPr>
            </a:pPr>
            <a:r>
              <a:t>Analytics events are tied to campaigns so activity can be aggregated and displayed in the dashboard.</a:t>
            </a:r>
          </a:p>
        </p:txBody>
      </p:sp>
      <p:sp>
        <p:nvSpPr>
          <p:cNvPr id="11" name="Rounded Rectangle 10"/>
          <p:cNvSpPr/>
          <p:nvPr/>
        </p:nvSpPr>
        <p:spPr>
          <a:xfrm>
            <a:off x="7818120" y="1828800"/>
            <a:ext cx="356616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18120" y="1828800"/>
            <a:ext cx="64008" cy="2240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993392"/>
            <a:ext cx="3154679" cy="365760"/>
          </a:xfrm>
          <a:prstGeom prst="rect">
            <a:avLst/>
          </a:prstGeom>
          <a:noFill/>
        </p:spPr>
        <p:txBody>
          <a:bodyPr wrap="none">
            <a:spAutoFit/>
          </a:bodyPr>
          <a:lstStyle/>
          <a:p>
            <a:pPr>
              <a:defRPr sz="1500" b="1">
                <a:solidFill>
                  <a:srgbClr val="0F172A"/>
                </a:solidFill>
              </a:defRPr>
            </a:pPr>
            <a:r>
              <a:t>Interview angle</a:t>
            </a:r>
          </a:p>
        </p:txBody>
      </p:sp>
      <p:sp>
        <p:nvSpPr>
          <p:cNvPr id="14" name="TextBox 13"/>
          <p:cNvSpPr txBox="1"/>
          <p:nvPr/>
        </p:nvSpPr>
        <p:spPr>
          <a:xfrm>
            <a:off x="8046720" y="2450592"/>
            <a:ext cx="3154679" cy="1463040"/>
          </a:xfrm>
          <a:prstGeom prst="rect">
            <a:avLst/>
          </a:prstGeom>
          <a:noFill/>
        </p:spPr>
        <p:txBody>
          <a:bodyPr wrap="square">
            <a:spAutoFit/>
          </a:bodyPr>
          <a:lstStyle/>
          <a:p>
            <a:pPr>
              <a:defRPr sz="1200">
                <a:solidFill>
                  <a:srgbClr val="475569"/>
                </a:solidFill>
              </a:defRPr>
            </a:pPr>
            <a:r>
              <a:t>Be ready to explain what an event means.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Features</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Dashboard tabs</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34</a:t>
            </a:r>
          </a:p>
        </p:txBody>
      </p:sp>
      <p:sp>
        <p:nvSpPr>
          <p:cNvPr id="7" name="Rounded Rectangle 6"/>
          <p:cNvSpPr/>
          <p:nvPr/>
        </p:nvSpPr>
        <p:spPr>
          <a:xfrm>
            <a:off x="777240" y="1828800"/>
            <a:ext cx="672084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2402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6309359" cy="365760"/>
          </a:xfrm>
          <a:prstGeom prst="rect">
            <a:avLst/>
          </a:prstGeom>
          <a:noFill/>
        </p:spPr>
        <p:txBody>
          <a:bodyPr wrap="none">
            <a:spAutoFit/>
          </a:bodyPr>
          <a:lstStyle/>
          <a:p>
            <a:pPr>
              <a:defRPr sz="1500" b="1">
                <a:solidFill>
                  <a:srgbClr val="0F172A"/>
                </a:solidFill>
              </a:defRPr>
            </a:pPr>
            <a:r>
              <a:t>Core explanation</a:t>
            </a:r>
          </a:p>
        </p:txBody>
      </p:sp>
      <p:sp>
        <p:nvSpPr>
          <p:cNvPr id="10" name="TextBox 9"/>
          <p:cNvSpPr txBox="1"/>
          <p:nvPr/>
        </p:nvSpPr>
        <p:spPr>
          <a:xfrm>
            <a:off x="1005840" y="2450592"/>
            <a:ext cx="6309359" cy="1463040"/>
          </a:xfrm>
          <a:prstGeom prst="rect">
            <a:avLst/>
          </a:prstGeom>
          <a:noFill/>
        </p:spPr>
        <p:txBody>
          <a:bodyPr wrap="square">
            <a:spAutoFit/>
          </a:bodyPr>
          <a:lstStyle/>
          <a:p>
            <a:pPr>
              <a:defRPr sz="1400">
                <a:solidFill>
                  <a:srgbClr val="475569"/>
                </a:solidFill>
              </a:defRPr>
            </a:pPr>
            <a:r>
              <a:t>Campaigns, Leads and Analytics are shown on one page with client-side tab state.</a:t>
            </a:r>
          </a:p>
        </p:txBody>
      </p:sp>
      <p:sp>
        <p:nvSpPr>
          <p:cNvPr id="11" name="Rounded Rectangle 10"/>
          <p:cNvSpPr/>
          <p:nvPr/>
        </p:nvSpPr>
        <p:spPr>
          <a:xfrm>
            <a:off x="7818120" y="1828800"/>
            <a:ext cx="356616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18120" y="1828800"/>
            <a:ext cx="64008" cy="2240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993392"/>
            <a:ext cx="3154679" cy="365760"/>
          </a:xfrm>
          <a:prstGeom prst="rect">
            <a:avLst/>
          </a:prstGeom>
          <a:noFill/>
        </p:spPr>
        <p:txBody>
          <a:bodyPr wrap="none">
            <a:spAutoFit/>
          </a:bodyPr>
          <a:lstStyle/>
          <a:p>
            <a:pPr>
              <a:defRPr sz="1500" b="1">
                <a:solidFill>
                  <a:srgbClr val="0F172A"/>
                </a:solidFill>
              </a:defRPr>
            </a:pPr>
            <a:r>
              <a:t>Interview angle</a:t>
            </a:r>
          </a:p>
        </p:txBody>
      </p:sp>
      <p:sp>
        <p:nvSpPr>
          <p:cNvPr id="14" name="TextBox 13"/>
          <p:cNvSpPr txBox="1"/>
          <p:nvPr/>
        </p:nvSpPr>
        <p:spPr>
          <a:xfrm>
            <a:off x="8046720" y="2450592"/>
            <a:ext cx="3154679" cy="1463040"/>
          </a:xfrm>
          <a:prstGeom prst="rect">
            <a:avLst/>
          </a:prstGeom>
          <a:noFill/>
        </p:spPr>
        <p:txBody>
          <a:bodyPr wrap="square">
            <a:spAutoFit/>
          </a:bodyPr>
          <a:lstStyle/>
          <a:p>
            <a:pPr>
              <a:defRPr sz="1200">
                <a:solidFill>
                  <a:srgbClr val="475569"/>
                </a:solidFill>
              </a:defRPr>
            </a:pPr>
            <a:r>
              <a:t>This reduces unnecessary navigation and keeps related tasks in context.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Features</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UI design</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35</a:t>
            </a:r>
          </a:p>
        </p:txBody>
      </p:sp>
      <p:sp>
        <p:nvSpPr>
          <p:cNvPr id="7" name="Rounded Rectangle 6"/>
          <p:cNvSpPr/>
          <p:nvPr/>
        </p:nvSpPr>
        <p:spPr>
          <a:xfrm>
            <a:off x="777240" y="1828800"/>
            <a:ext cx="672084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2402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6309359" cy="365760"/>
          </a:xfrm>
          <a:prstGeom prst="rect">
            <a:avLst/>
          </a:prstGeom>
          <a:noFill/>
        </p:spPr>
        <p:txBody>
          <a:bodyPr wrap="none">
            <a:spAutoFit/>
          </a:bodyPr>
          <a:lstStyle/>
          <a:p>
            <a:pPr>
              <a:defRPr sz="1500" b="1">
                <a:solidFill>
                  <a:srgbClr val="0F172A"/>
                </a:solidFill>
              </a:defRPr>
            </a:pPr>
            <a:r>
              <a:t>Core explanation</a:t>
            </a:r>
          </a:p>
        </p:txBody>
      </p:sp>
      <p:sp>
        <p:nvSpPr>
          <p:cNvPr id="10" name="TextBox 9"/>
          <p:cNvSpPr txBox="1"/>
          <p:nvPr/>
        </p:nvSpPr>
        <p:spPr>
          <a:xfrm>
            <a:off x="1005840" y="2450592"/>
            <a:ext cx="6309359" cy="1463040"/>
          </a:xfrm>
          <a:prstGeom prst="rect">
            <a:avLst/>
          </a:prstGeom>
          <a:noFill/>
        </p:spPr>
        <p:txBody>
          <a:bodyPr wrap="square">
            <a:spAutoFit/>
          </a:bodyPr>
          <a:lstStyle/>
          <a:p>
            <a:pPr>
              <a:defRPr sz="1400">
                <a:solidFill>
                  <a:srgbClr val="475569"/>
                </a:solidFill>
              </a:defRPr>
            </a:pPr>
            <a:r>
              <a:t>Cards, tabs, responsive grids, clear actions and consistent spacing make the workflow easier to scan.</a:t>
            </a:r>
          </a:p>
        </p:txBody>
      </p:sp>
      <p:sp>
        <p:nvSpPr>
          <p:cNvPr id="11" name="Rounded Rectangle 10"/>
          <p:cNvSpPr/>
          <p:nvPr/>
        </p:nvSpPr>
        <p:spPr>
          <a:xfrm>
            <a:off x="7818120" y="1828800"/>
            <a:ext cx="356616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18120" y="1828800"/>
            <a:ext cx="64008" cy="2240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993392"/>
            <a:ext cx="3154679" cy="365760"/>
          </a:xfrm>
          <a:prstGeom prst="rect">
            <a:avLst/>
          </a:prstGeom>
          <a:noFill/>
        </p:spPr>
        <p:txBody>
          <a:bodyPr wrap="none">
            <a:spAutoFit/>
          </a:bodyPr>
          <a:lstStyle/>
          <a:p>
            <a:pPr>
              <a:defRPr sz="1500" b="1">
                <a:solidFill>
                  <a:srgbClr val="0F172A"/>
                </a:solidFill>
              </a:defRPr>
            </a:pPr>
            <a:r>
              <a:t>Interview angle</a:t>
            </a:r>
          </a:p>
        </p:txBody>
      </p:sp>
      <p:sp>
        <p:nvSpPr>
          <p:cNvPr id="14" name="TextBox 13"/>
          <p:cNvSpPr txBox="1"/>
          <p:nvPr/>
        </p:nvSpPr>
        <p:spPr>
          <a:xfrm>
            <a:off x="8046720" y="2450592"/>
            <a:ext cx="3154679" cy="1463040"/>
          </a:xfrm>
          <a:prstGeom prst="rect">
            <a:avLst/>
          </a:prstGeom>
          <a:noFill/>
        </p:spPr>
        <p:txBody>
          <a:bodyPr wrap="square">
            <a:spAutoFit/>
          </a:bodyPr>
          <a:lstStyle/>
          <a:p>
            <a:pPr>
              <a:defRPr sz="1200">
                <a:solidFill>
                  <a:srgbClr val="475569"/>
                </a:solidFill>
              </a:defRPr>
            </a:pPr>
            <a:r>
              <a:t>Talk about usability, not only aesthetics.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058400" cy="914400"/>
          </a:xfrm>
          <a:prstGeom prst="rect">
            <a:avLst/>
          </a:prstGeom>
          <a:noFill/>
        </p:spPr>
        <p:txBody>
          <a:bodyPr wrap="none">
            <a:spAutoFit/>
          </a:bodyPr>
          <a:lstStyle/>
          <a:p>
            <a:pPr>
              <a:defRPr sz="3600" b="1">
                <a:solidFill>
                  <a:srgbClr val="FFFFFF"/>
                </a:solidFill>
              </a:defRPr>
            </a:pPr>
            <a:r>
              <a:t>PART 4</a:t>
            </a:r>
          </a:p>
        </p:txBody>
      </p:sp>
      <p:sp>
        <p:nvSpPr>
          <p:cNvPr id="4" name="TextBox 3"/>
          <p:cNvSpPr txBox="1"/>
          <p:nvPr/>
        </p:nvSpPr>
        <p:spPr>
          <a:xfrm>
            <a:off x="914400" y="2743200"/>
            <a:ext cx="9601200" cy="914400"/>
          </a:xfrm>
          <a:prstGeom prst="rect">
            <a:avLst/>
          </a:prstGeom>
          <a:noFill/>
        </p:spPr>
        <p:txBody>
          <a:bodyPr wrap="none">
            <a:spAutoFit/>
          </a:bodyPr>
          <a:lstStyle/>
          <a:p>
            <a:pPr>
              <a:defRPr sz="1800">
                <a:solidFill>
                  <a:srgbClr val="CBD5E1"/>
                </a:solidFill>
              </a:defRPr>
            </a:pPr>
            <a:r>
              <a:t>Project-specific interview questions</a:t>
            </a:r>
          </a:p>
        </p:txBody>
      </p:sp>
      <p:sp>
        <p:nvSpPr>
          <p:cNvPr id="5" name="TextBox 4"/>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Q1 • Explain the project</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37</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Give me a 2-minute explanation.</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AI Campaign Studio is a full-stack marketing platform. Authenticated users manage campaigns, generate AI-assisted marketing content and publish a landing page for each campaign. Visitors can submit their details, while the system stores leads and analytics events. I used Next.js, React, TypeScript, Prisma, PostgreSQL, Zod and an AI service. The main engineering challenge was connecting authentication, relational data, AI generation and lead tracking into one secure workflow.</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Q2 • What happens on Generate AI?</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38</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Walk me through the request.</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The UI sends campaignId to the generation API. The server authenticates the user, verifies campaign access, builds the AI request from campaign data, receives structured content, persists the generation and returns it. React then prepends the new generation and selects it.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Q3 • How do you secure campaign ownership?</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39</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How do you stop user A accessing user B's campaign?</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The server gets the current authenticated user and scopes campaign queries/mutations to that user. The browser supplies only the campaign ID; it does not decide ownership. Sensitive operations verify the relationship before updating or deleting.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Q4 • Why store AI generations?</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40</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Why not only return the text?</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Persistence gives generation history, allows previous versions to be viewed and makes the output durable beyond one browser render. It also separates application truth from temporary UI state.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Q5 • Why a transaction for leads?</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41</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Why create the lead and analytics event together?</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They represent one business action. A transaction makes the writes atomic, so a failure does not leave a lead without its corresponding conversion event.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Q6 • What was challenging?</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42</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What was the hardest engineering part?</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The challenge was integrating several concerns without mixing responsibilities: auth, ownership, validation, relational data, AI generation, dynamic routing, public lead capture and analytics. The project taught me to think about failure cases, not just the happy path.</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Q7 • How does AI failure work?</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43</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What happens if the AI provider fails?</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The API returns an error and the UI catches it, shows a user-facing message and restores the generating state. A production version could add retries, timeouts, rate limits and better observability.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Q8 • Why dynamic routes?</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44</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Why /campaign/[id]?</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A campaign has its own ID and data. A dynamic route lets one reusable landing-page implementation render any campaign based on that ID.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Q9 • Where is the source of truth?</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45</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Is React state the database?</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No. PostgreSQL is the persistent source of truth. Prisma is the typed data-access layer. React state controls what the current UI displays.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Q10 • What would you improve?</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46</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What would you build next?</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Automated tests, pagination, rate limiting, stronger observability, better local state updates, and asynchronous/background AI processing for higher traffic.</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058400" cy="914400"/>
          </a:xfrm>
          <a:prstGeom prst="rect">
            <a:avLst/>
          </a:prstGeom>
          <a:noFill/>
        </p:spPr>
        <p:txBody>
          <a:bodyPr wrap="none">
            <a:spAutoFit/>
          </a:bodyPr>
          <a:lstStyle/>
          <a:p>
            <a:pPr>
              <a:defRPr sz="3600" b="1">
                <a:solidFill>
                  <a:srgbClr val="FFFFFF"/>
                </a:solidFill>
              </a:defRPr>
            </a:pPr>
            <a:r>
              <a:t>PART 5</a:t>
            </a:r>
          </a:p>
        </p:txBody>
      </p:sp>
      <p:sp>
        <p:nvSpPr>
          <p:cNvPr id="4" name="TextBox 3"/>
          <p:cNvSpPr txBox="1"/>
          <p:nvPr/>
        </p:nvSpPr>
        <p:spPr>
          <a:xfrm>
            <a:off x="914400" y="2743200"/>
            <a:ext cx="9601200" cy="914400"/>
          </a:xfrm>
          <a:prstGeom prst="rect">
            <a:avLst/>
          </a:prstGeom>
          <a:noFill/>
        </p:spPr>
        <p:txBody>
          <a:bodyPr wrap="none">
            <a:spAutoFit/>
          </a:bodyPr>
          <a:lstStyle/>
          <a:p>
            <a:pPr>
              <a:defRPr sz="1800">
                <a:solidFill>
                  <a:srgbClr val="CBD5E1"/>
                </a:solidFill>
              </a:defRPr>
            </a:pPr>
            <a:r>
              <a:t>Core conceptual interview questions</a:t>
            </a:r>
          </a:p>
        </p:txBody>
      </p:sp>
      <p:sp>
        <p:nvSpPr>
          <p:cNvPr id="5" name="TextBox 4"/>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JavaScript • let / const / var</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48</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What is the difference?</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let and const are block-scoped; const prevents reassignment while let allows it. var is function-scoped and has older hoisting behavior. Modern code generally prefers const by default and let when reassignment is required.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JavaScript • async/await</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49</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What is it?</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async/await is syntax over Promises that makes asynchronous code easier to read. try/catch can handle rejected operations. Your project uses it heavily around fetch and API/database work.</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JavaScript • Promise</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50</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What is a Promise?</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A Promise represents a future asynchronous result and can be pending, fulfilled or rejected. Promise.all can run independent async operations in parallel.</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React • useState</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51</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What does useState do?</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It stores component state and its setter schedules a re-render. In your project it controls loading, generation state, selected content and other UI state.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React • useEffect</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52</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What is useEffect really for?</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It synchronizes a component with external systems such as network requests or subscriptions. It runs after rendering according to its dependency array. Avoid describing it only as an API-call hook.</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React • props vs state</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53</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Difference?</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Props are inputs passed from a parent and should be treated as read-only by the child. State is owned by the component and can change over time.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Next.js • client component</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54</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Why use 'use client'?</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A client component is needed when the component uses client-side state, effects, event handlers or browser APIs. Your dashboard and interactive campaign components need these capabilities.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REST • HTTP methods</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55</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Explain GET, POST, PUT, DELETE.</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GET reads, POST creates/submits, PUT updates/replaces and DELETE removes. The exact semantics can vary by API design, but these are the standard roles.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HTTP status codes</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56</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Which ones should you know?</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200 success, 201 created, 400 bad input, 401 unauthenticated, 403 forbidden, 404 not found, 500 server error.</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SQL • primary vs foreign key</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57</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What is the difference?</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A primary key uniquely identifies a row. A foreign key references another table's key and creates a relationship.</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SQL • JOIN</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58</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What is a JOIN?</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A JOIN combines related rows from tables using a matching condition. Know INNER JOIN and LEFT JOIN conceptually.</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SQL • index</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59</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Why use an index?</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Indexes speed up reads for common query patterns but add storage and write overhead. Index based on real access patterns.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OOP • encapsulation</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60</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What is it?</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Encapsulation groups data and behavior while controlling access to internal state. It helps keep invariants and implementation details contained.</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OOP • inheritance vs composition</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61</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Which is often more flexible?</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Inheritance models an is-a relationship; composition builds behavior from smaller parts. Composition is often more flexible and is common in React.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Node.js</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62</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What is Node.js?</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A JavaScript runtime outside the browser using an event-driven, non-blocking I/O model. It is commonly used for APIs and server-side applications.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MongoDB vs SQL</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63</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When would you choose each?</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MongoDB is document-oriented and flexible; relational SQL databases provide structured tables, relationships and constraints. Your project uses PostgreSQL because its entities are strongly related.</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AI • structured output</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64</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Why structure AI output?</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Defined fields reduce ambiguity and make generated content easier to validate, store and render. This is especially important when the UI expects specific fields.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AI • prompt engineering</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65</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What makes a prompt useful?</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Give the model relevant context, explicit instructions, constraints and a predictable output format. Campaign fields provide the context in this project.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058400" cy="914400"/>
          </a:xfrm>
          <a:prstGeom prst="rect">
            <a:avLst/>
          </a:prstGeom>
          <a:noFill/>
        </p:spPr>
        <p:txBody>
          <a:bodyPr wrap="none">
            <a:spAutoFit/>
          </a:bodyPr>
          <a:lstStyle/>
          <a:p>
            <a:pPr>
              <a:defRPr sz="3600" b="1">
                <a:solidFill>
                  <a:srgbClr val="FFFFFF"/>
                </a:solidFill>
              </a:defRPr>
            </a:pPr>
            <a:r>
              <a:t>PART 6</a:t>
            </a:r>
          </a:p>
        </p:txBody>
      </p:sp>
      <p:sp>
        <p:nvSpPr>
          <p:cNvPr id="4" name="TextBox 3"/>
          <p:cNvSpPr txBox="1"/>
          <p:nvPr/>
        </p:nvSpPr>
        <p:spPr>
          <a:xfrm>
            <a:off x="914400" y="2743200"/>
            <a:ext cx="9601200" cy="914400"/>
          </a:xfrm>
          <a:prstGeom prst="rect">
            <a:avLst/>
          </a:prstGeom>
          <a:noFill/>
        </p:spPr>
        <p:txBody>
          <a:bodyPr wrap="none">
            <a:spAutoFit/>
          </a:bodyPr>
          <a:lstStyle/>
          <a:p>
            <a:pPr>
              <a:defRPr sz="1800">
                <a:solidFill>
                  <a:srgbClr val="CBD5E1"/>
                </a:solidFill>
              </a:defRPr>
            </a:pPr>
            <a:r>
              <a:t>System design, testing and HR</a:t>
            </a:r>
          </a:p>
        </p:txBody>
      </p:sp>
      <p:sp>
        <p:nvSpPr>
          <p:cNvPr id="5" name="TextBox 4"/>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Scaling AI generation</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67</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What changes at high traffic?</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Add rate limiting, queues/background jobs, retries with backoff, timeouts, usage monitoring and appropriate caching. Avoid keeping expensive work inside long synchronous requests when background processing fits.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Protecting a public lead form</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68</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How do you stop abuse?</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Server-side validation, rate limiting, payload limits, abuse detection/CAPTCHA when appropriate, safe error messages and monitoring. Never expose secrets in the client.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Testing strategy</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69</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What would you test?</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Unit-test validation and utilities; integration-test API auth/ownership/CRUD; test transaction behavior; and add end-to-end coverage for login → campaign → AI → landing page → lead capture.</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Happy vs unhappy paths</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70</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Give examples.</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Happy: valid campaign creation. Unhappy: invalid budget, unauthenticated request, wrong campaign owner, AI failure, invalid lead data and database failure.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Performance</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71</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What would you optimize?</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Avoid unnecessary reloads, paginate large lists, optimize database queries/indexes, lazy-load heavy UI and move expensive AI work to background processing as usage grows.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Security</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72</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What are the main risks?</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Broken authorization/IDOR, weak server validation, AI endpoint abuse, leaked secrets, unsafe errors and public-form abuse. Keep secrets server-side.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HR • biggest learning</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73</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What did you learn?</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I learned how frontend, backend, database and an external AI service fit together as one system. I also learned that full-stack correctness includes authorization, validation, failure handling and data consistency.</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HR • why this project?</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74</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Why did you build it?</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I wanted a project that forced me to work across the complete stack instead of only building a frontend. Marketing gave me realistic CRUD, authentication, AI, public pages, forms and analytics.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HR • proudest part</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75</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What are you proud of?</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The end-to-end integration: a campaign created in the dashboard can generate content, open its own landing page, capture a real lead and record an analytics event.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Interview Q&amp;A</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HR • future improvements</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76</a:t>
            </a:r>
          </a:p>
        </p:txBody>
      </p:sp>
      <p:sp>
        <p:nvSpPr>
          <p:cNvPr id="7" name="Rounded Rectangle 6"/>
          <p:cNvSpPr/>
          <p:nvPr/>
        </p:nvSpPr>
        <p:spPr>
          <a:xfrm>
            <a:off x="731520" y="1783080"/>
            <a:ext cx="1069848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64008"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47672"/>
            <a:ext cx="10287000" cy="365760"/>
          </a:xfrm>
          <a:prstGeom prst="rect">
            <a:avLst/>
          </a:prstGeom>
          <a:noFill/>
        </p:spPr>
        <p:txBody>
          <a:bodyPr wrap="none">
            <a:spAutoFit/>
          </a:bodyPr>
          <a:lstStyle/>
          <a:p>
            <a:pPr>
              <a:defRPr sz="1500" b="1">
                <a:solidFill>
                  <a:srgbClr val="0F172A"/>
                </a:solidFill>
              </a:defRPr>
            </a:pPr>
            <a:r>
              <a:t>Question</a:t>
            </a:r>
          </a:p>
        </p:txBody>
      </p:sp>
      <p:sp>
        <p:nvSpPr>
          <p:cNvPr id="10" name="TextBox 9"/>
          <p:cNvSpPr txBox="1"/>
          <p:nvPr/>
        </p:nvSpPr>
        <p:spPr>
          <a:xfrm>
            <a:off x="960120" y="2404872"/>
            <a:ext cx="10287000" cy="274319"/>
          </a:xfrm>
          <a:prstGeom prst="rect">
            <a:avLst/>
          </a:prstGeom>
          <a:noFill/>
        </p:spPr>
        <p:txBody>
          <a:bodyPr wrap="square">
            <a:spAutoFit/>
          </a:bodyPr>
          <a:lstStyle/>
          <a:p>
            <a:pPr>
              <a:defRPr sz="1500">
                <a:solidFill>
                  <a:srgbClr val="475569"/>
                </a:solidFill>
              </a:defRPr>
            </a:pPr>
            <a:r>
              <a:t>What would you add?</a:t>
            </a:r>
          </a:p>
        </p:txBody>
      </p:sp>
      <p:sp>
        <p:nvSpPr>
          <p:cNvPr id="11" name="Rounded Rectangle 10"/>
          <p:cNvSpPr/>
          <p:nvPr/>
        </p:nvSpPr>
        <p:spPr>
          <a:xfrm>
            <a:off x="731520" y="3063240"/>
            <a:ext cx="106984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063240"/>
            <a:ext cx="64008" cy="20116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10287000" cy="365760"/>
          </a:xfrm>
          <a:prstGeom prst="rect">
            <a:avLst/>
          </a:prstGeom>
          <a:noFill/>
        </p:spPr>
        <p:txBody>
          <a:bodyPr wrap="none">
            <a:spAutoFit/>
          </a:bodyPr>
          <a:lstStyle/>
          <a:p>
            <a:pPr>
              <a:defRPr sz="1500" b="1">
                <a:solidFill>
                  <a:srgbClr val="0F172A"/>
                </a:solidFill>
              </a:defRPr>
            </a:pPr>
            <a:r>
              <a:t>Strong answer</a:t>
            </a:r>
          </a:p>
        </p:txBody>
      </p:sp>
      <p:sp>
        <p:nvSpPr>
          <p:cNvPr id="14" name="TextBox 13"/>
          <p:cNvSpPr txBox="1"/>
          <p:nvPr/>
        </p:nvSpPr>
        <p:spPr>
          <a:xfrm>
            <a:off x="960120" y="3685032"/>
            <a:ext cx="10287000" cy="1234440"/>
          </a:xfrm>
          <a:prstGeom prst="rect">
            <a:avLst/>
          </a:prstGeom>
          <a:noFill/>
        </p:spPr>
        <p:txBody>
          <a:bodyPr wrap="square">
            <a:spAutoFit/>
          </a:bodyPr>
          <a:lstStyle/>
          <a:p>
            <a:pPr>
              <a:defRPr sz="1400">
                <a:solidFill>
                  <a:srgbClr val="475569"/>
                </a:solidFill>
              </a:defRPr>
            </a:pPr>
            <a:r>
              <a:t>Testing, production observability, rate limiting, pagination and asynchronous AI processing are stronger improvements than simply adding more screens.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058400" cy="914400"/>
          </a:xfrm>
          <a:prstGeom prst="rect">
            <a:avLst/>
          </a:prstGeom>
          <a:noFill/>
        </p:spPr>
        <p:txBody>
          <a:bodyPr wrap="none">
            <a:spAutoFit/>
          </a:bodyPr>
          <a:lstStyle/>
          <a:p>
            <a:pPr>
              <a:defRPr sz="3600" b="1">
                <a:solidFill>
                  <a:srgbClr val="FFFFFF"/>
                </a:solidFill>
              </a:defRPr>
            </a:pPr>
            <a:r>
              <a:t>PART 7</a:t>
            </a:r>
          </a:p>
        </p:txBody>
      </p:sp>
      <p:sp>
        <p:nvSpPr>
          <p:cNvPr id="4" name="TextBox 3"/>
          <p:cNvSpPr txBox="1"/>
          <p:nvPr/>
        </p:nvSpPr>
        <p:spPr>
          <a:xfrm>
            <a:off x="914400" y="2743200"/>
            <a:ext cx="9601200" cy="914400"/>
          </a:xfrm>
          <a:prstGeom prst="rect">
            <a:avLst/>
          </a:prstGeom>
          <a:noFill/>
        </p:spPr>
        <p:txBody>
          <a:bodyPr wrap="none">
            <a:spAutoFit/>
          </a:bodyPr>
          <a:lstStyle/>
          <a:p>
            <a:pPr>
              <a:defRPr sz="1800">
                <a:solidFill>
                  <a:srgbClr val="CBD5E1"/>
                </a:solidFill>
              </a:defRPr>
            </a:pPr>
            <a:r>
              <a:t>Ready-to-speak answers</a:t>
            </a:r>
          </a:p>
        </p:txBody>
      </p:sp>
      <p:sp>
        <p:nvSpPr>
          <p:cNvPr id="5" name="TextBox 4"/>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Speaking Scripts</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30-second project pitch</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78</a:t>
            </a:r>
          </a:p>
        </p:txBody>
      </p:sp>
      <p:sp>
        <p:nvSpPr>
          <p:cNvPr id="7" name="Rounded Rectangle 6"/>
          <p:cNvSpPr/>
          <p:nvPr/>
        </p:nvSpPr>
        <p:spPr>
          <a:xfrm>
            <a:off x="777240" y="1828800"/>
            <a:ext cx="10698480" cy="3200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32004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10287000" cy="365760"/>
          </a:xfrm>
          <a:prstGeom prst="rect">
            <a:avLst/>
          </a:prstGeom>
          <a:noFill/>
        </p:spPr>
        <p:txBody>
          <a:bodyPr wrap="none">
            <a:spAutoFit/>
          </a:bodyPr>
          <a:lstStyle/>
          <a:p>
            <a:pPr>
              <a:defRPr sz="1500" b="1">
                <a:solidFill>
                  <a:srgbClr val="0F172A"/>
                </a:solidFill>
              </a:defRPr>
            </a:pPr>
            <a:r>
              <a:t>Use this</a:t>
            </a:r>
          </a:p>
        </p:txBody>
      </p:sp>
      <p:sp>
        <p:nvSpPr>
          <p:cNvPr id="10" name="TextBox 9"/>
          <p:cNvSpPr txBox="1"/>
          <p:nvPr/>
        </p:nvSpPr>
        <p:spPr>
          <a:xfrm>
            <a:off x="1005840" y="2450592"/>
            <a:ext cx="10287000" cy="2423160"/>
          </a:xfrm>
          <a:prstGeom prst="rect">
            <a:avLst/>
          </a:prstGeom>
          <a:noFill/>
        </p:spPr>
        <p:txBody>
          <a:bodyPr wrap="square">
            <a:spAutoFit/>
          </a:bodyPr>
          <a:lstStyle/>
          <a:p>
            <a:pPr>
              <a:defRPr sz="1600">
                <a:solidFill>
                  <a:srgbClr val="475569"/>
                </a:solidFill>
              </a:defRPr>
            </a:pPr>
            <a:r>
              <a:t>“AI Campaign Studio is a full-stack marketing platform I built using Next.js, React, TypeScript, Prisma and PostgreSQL. Users can authenticate, manage campaigns and generate marketing content with AI. Each campaign gets a dedicated landing page where visitors can submit their details. The system stores leads and analytics events, so the workflow goes from campaign creation all the way to measurable lead capture.”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Speaking Scripts</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2-minute project pitch</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79</a:t>
            </a:r>
          </a:p>
        </p:txBody>
      </p:sp>
      <p:sp>
        <p:nvSpPr>
          <p:cNvPr id="7" name="Rounded Rectangle 6"/>
          <p:cNvSpPr/>
          <p:nvPr/>
        </p:nvSpPr>
        <p:spPr>
          <a:xfrm>
            <a:off x="777240" y="1828800"/>
            <a:ext cx="10698480" cy="3200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32004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10287000" cy="365760"/>
          </a:xfrm>
          <a:prstGeom prst="rect">
            <a:avLst/>
          </a:prstGeom>
          <a:noFill/>
        </p:spPr>
        <p:txBody>
          <a:bodyPr wrap="none">
            <a:spAutoFit/>
          </a:bodyPr>
          <a:lstStyle/>
          <a:p>
            <a:pPr>
              <a:defRPr sz="1500" b="1">
                <a:solidFill>
                  <a:srgbClr val="0F172A"/>
                </a:solidFill>
              </a:defRPr>
            </a:pPr>
            <a:r>
              <a:t>Use this</a:t>
            </a:r>
          </a:p>
        </p:txBody>
      </p:sp>
      <p:sp>
        <p:nvSpPr>
          <p:cNvPr id="10" name="TextBox 9"/>
          <p:cNvSpPr txBox="1"/>
          <p:nvPr/>
        </p:nvSpPr>
        <p:spPr>
          <a:xfrm>
            <a:off x="1005840" y="2450592"/>
            <a:ext cx="10287000" cy="2423160"/>
          </a:xfrm>
          <a:prstGeom prst="rect">
            <a:avLst/>
          </a:prstGeom>
          <a:noFill/>
        </p:spPr>
        <p:txBody>
          <a:bodyPr wrap="square">
            <a:spAutoFit/>
          </a:bodyPr>
          <a:lstStyle/>
          <a:p>
            <a:pPr>
              <a:defRPr sz="1600">
                <a:solidFill>
                  <a:srgbClr val="475569"/>
                </a:solidFill>
              </a:defRPr>
            </a:pPr>
            <a:r>
              <a:t>“AI Campaign Studio connects campaign management, AI content generation, landing pages and lead tracking in one application. Users authenticate and manage campaigns from a dashboard. Campaign data is validated and stored in PostgreSQL through Prisma. Users can generate headline, social, email and CTA content with AI, and generations are persisted so previous versions can be reviewed. Each campaign has a dynamic landing page. Its CTA moves to a lead form; the lead API validates the data, checks the campaign and creates both the lead and a LEAD_CAPTURE analytics event in a transaction. The frontend uses reusable React/TypeScript components and dashboard tabs. The main engineering lessons were authorization, relational data, external AI integration, API design and consistent state handling.”</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Speaking Scripts</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5-minute structure</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80</a:t>
            </a:r>
          </a:p>
        </p:txBody>
      </p:sp>
      <p:sp>
        <p:nvSpPr>
          <p:cNvPr id="7" name="Rounded Rectangle 6"/>
          <p:cNvSpPr/>
          <p:nvPr/>
        </p:nvSpPr>
        <p:spPr>
          <a:xfrm>
            <a:off x="777240" y="1828800"/>
            <a:ext cx="10698480" cy="3200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32004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10287000" cy="365760"/>
          </a:xfrm>
          <a:prstGeom prst="rect">
            <a:avLst/>
          </a:prstGeom>
          <a:noFill/>
        </p:spPr>
        <p:txBody>
          <a:bodyPr wrap="none">
            <a:spAutoFit/>
          </a:bodyPr>
          <a:lstStyle/>
          <a:p>
            <a:pPr>
              <a:defRPr sz="1500" b="1">
                <a:solidFill>
                  <a:srgbClr val="0F172A"/>
                </a:solidFill>
              </a:defRPr>
            </a:pPr>
            <a:r>
              <a:t>Use this</a:t>
            </a:r>
          </a:p>
        </p:txBody>
      </p:sp>
      <p:sp>
        <p:nvSpPr>
          <p:cNvPr id="10" name="TextBox 9"/>
          <p:cNvSpPr txBox="1"/>
          <p:nvPr/>
        </p:nvSpPr>
        <p:spPr>
          <a:xfrm>
            <a:off x="1005840" y="2450592"/>
            <a:ext cx="10287000" cy="2423160"/>
          </a:xfrm>
          <a:prstGeom prst="rect">
            <a:avLst/>
          </a:prstGeom>
          <a:noFill/>
        </p:spPr>
        <p:txBody>
          <a:bodyPr wrap="square">
            <a:spAutoFit/>
          </a:bodyPr>
          <a:lstStyle/>
          <a:p>
            <a:pPr>
              <a:defRPr sz="1600">
                <a:solidFill>
                  <a:srgbClr val="475569"/>
                </a:solidFill>
              </a:defRPr>
            </a:pPr>
            <a:r>
              <a:t>1. Problem and goals  •  2. User workflow  •  3. Tech stack and why  •  4. Auth + ownership  •  5. Campaign CRUD  •  6. AI generation  •  7. Dynamic landing page  •  8. Lead + transaction  •  9. Analytics  •  10. Challenges + improvements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Speaking Scripts</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Best interview answer pattern</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81</a:t>
            </a:r>
          </a:p>
        </p:txBody>
      </p:sp>
      <p:sp>
        <p:nvSpPr>
          <p:cNvPr id="7" name="Rounded Rectangle 6"/>
          <p:cNvSpPr/>
          <p:nvPr/>
        </p:nvSpPr>
        <p:spPr>
          <a:xfrm>
            <a:off x="777240" y="1828800"/>
            <a:ext cx="10698480" cy="3200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32004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93392"/>
            <a:ext cx="10287000" cy="365760"/>
          </a:xfrm>
          <a:prstGeom prst="rect">
            <a:avLst/>
          </a:prstGeom>
          <a:noFill/>
        </p:spPr>
        <p:txBody>
          <a:bodyPr wrap="none">
            <a:spAutoFit/>
          </a:bodyPr>
          <a:lstStyle/>
          <a:p>
            <a:pPr>
              <a:defRPr sz="1500" b="1">
                <a:solidFill>
                  <a:srgbClr val="0F172A"/>
                </a:solidFill>
              </a:defRPr>
            </a:pPr>
            <a:r>
              <a:t>Use this</a:t>
            </a:r>
          </a:p>
        </p:txBody>
      </p:sp>
      <p:sp>
        <p:nvSpPr>
          <p:cNvPr id="10" name="TextBox 9"/>
          <p:cNvSpPr txBox="1"/>
          <p:nvPr/>
        </p:nvSpPr>
        <p:spPr>
          <a:xfrm>
            <a:off x="1005840" y="2450592"/>
            <a:ext cx="10287000" cy="2423160"/>
          </a:xfrm>
          <a:prstGeom prst="rect">
            <a:avLst/>
          </a:prstGeom>
          <a:noFill/>
        </p:spPr>
        <p:txBody>
          <a:bodyPr wrap="square">
            <a:spAutoFit/>
          </a:bodyPr>
          <a:lstStyle/>
          <a:p>
            <a:pPr>
              <a:defRPr sz="1600">
                <a:solidFill>
                  <a:srgbClr val="475569"/>
                </a:solidFill>
              </a:defRPr>
            </a:pPr>
            <a:r>
              <a:t>Definition → why it matters → how you used it → trade-off/future improvement. Example: “A transaction makes related writes atomic. I used it for lead + analytics because they represent one business action. Without it, reporting could become inconsistent.”</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789920" cy="320040"/>
          </a:xfrm>
          <a:prstGeom prst="rect">
            <a:avLst/>
          </a:prstGeom>
          <a:noFill/>
        </p:spPr>
        <p:txBody>
          <a:bodyPr wrap="none">
            <a:spAutoFit/>
          </a:bodyPr>
          <a:lstStyle/>
          <a:p>
            <a:pPr>
              <a:defRPr sz="1000" b="1">
                <a:solidFill>
                  <a:srgbClr val="475569"/>
                </a:solidFill>
              </a:defRPr>
            </a:pPr>
            <a:r>
              <a:t>AI Campaign Studio</a:t>
            </a:r>
          </a:p>
        </p:txBody>
      </p:sp>
      <p:sp>
        <p:nvSpPr>
          <p:cNvPr id="5" name="TextBox 4"/>
          <p:cNvSpPr txBox="1"/>
          <p:nvPr/>
        </p:nvSpPr>
        <p:spPr>
          <a:xfrm>
            <a:off x="640080" y="658368"/>
            <a:ext cx="10789920" cy="594360"/>
          </a:xfrm>
          <a:prstGeom prst="rect">
            <a:avLst/>
          </a:prstGeom>
          <a:noFill/>
        </p:spPr>
        <p:txBody>
          <a:bodyPr wrap="none">
            <a:spAutoFit/>
          </a:bodyPr>
          <a:lstStyle/>
          <a:p>
            <a:pPr>
              <a:defRPr sz="2700" b="1">
                <a:solidFill>
                  <a:srgbClr val="0F172A"/>
                </a:solidFill>
              </a:defRPr>
            </a:pPr>
            <a:r>
              <a:t>Final 15-minute revision checklist</a:t>
            </a:r>
          </a:p>
        </p:txBody>
      </p:sp>
      <p:sp>
        <p:nvSpPr>
          <p:cNvPr id="6" name="TextBox 5"/>
          <p:cNvSpPr txBox="1"/>
          <p:nvPr/>
        </p:nvSpPr>
        <p:spPr>
          <a:xfrm>
            <a:off x="658368" y="1280160"/>
            <a:ext cx="10607040" cy="411480"/>
          </a:xfrm>
          <a:prstGeom prst="rect">
            <a:avLst/>
          </a:prstGeom>
          <a:noFill/>
        </p:spPr>
        <p:txBody>
          <a:bodyPr wrap="none">
            <a:spAutoFit/>
          </a:bodyPr>
          <a:lstStyle/>
          <a:p>
            <a:pPr>
              <a:defRPr sz="1200">
                <a:solidFill>
                  <a:srgbClr val="475569"/>
                </a:solidFill>
              </a:defRPr>
            </a:pPr>
            <a:r>
              <a:t>Make sure you can answer these without reading.</a:t>
            </a:r>
          </a:p>
        </p:txBody>
      </p:sp>
      <p:sp>
        <p:nvSpPr>
          <p:cNvPr id="7" name="TextBox 6"/>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82</a:t>
            </a:r>
          </a:p>
        </p:txBody>
      </p:sp>
      <p:sp>
        <p:nvSpPr>
          <p:cNvPr id="8" name="TextBox 7"/>
          <p:cNvSpPr txBox="1"/>
          <p:nvPr/>
        </p:nvSpPr>
        <p:spPr>
          <a:xfrm>
            <a:off x="822960" y="1828800"/>
            <a:ext cx="10515600" cy="4206240"/>
          </a:xfrm>
          <a:prstGeom prst="rect">
            <a:avLst/>
          </a:prstGeom>
          <a:noFill/>
        </p:spPr>
        <p:txBody>
          <a:bodyPr wrap="square">
            <a:spAutoFit/>
          </a:bodyPr>
          <a:lstStyle/>
          <a:p>
            <a:pPr>
              <a:spcAft>
                <a:spcPts val="1000"/>
              </a:spcAft>
              <a:defRPr sz="1600">
                <a:solidFill>
                  <a:srgbClr val="0F172A"/>
                </a:solidFill>
              </a:defRPr>
            </a:pPr>
            <a:r>
              <a:t>• Explain the whole project in 2 minutes.</a:t>
            </a:r>
          </a:p>
          <a:p>
            <a:pPr>
              <a:spcAft>
                <a:spcPts val="1000"/>
              </a:spcAft>
              <a:defRPr sz="1600">
                <a:solidFill>
                  <a:srgbClr val="0F172A"/>
                </a:solidFill>
              </a:defRPr>
            </a:pPr>
            <a:r>
              <a:t>• Trace Generate AI from button click to database and back.</a:t>
            </a:r>
          </a:p>
          <a:p>
            <a:pPr>
              <a:spcAft>
                <a:spcPts val="1000"/>
              </a:spcAft>
              <a:defRPr sz="1600">
                <a:solidFill>
                  <a:srgbClr val="0F172A"/>
                </a:solidFill>
              </a:defRPr>
            </a:pPr>
            <a:r>
              <a:t>• Trace lead submission from browser to transaction.</a:t>
            </a:r>
          </a:p>
          <a:p>
            <a:pPr>
              <a:spcAft>
                <a:spcPts val="1000"/>
              </a:spcAft>
              <a:defRPr sz="1600">
                <a:solidFill>
                  <a:srgbClr val="0F172A"/>
                </a:solidFill>
              </a:defRPr>
            </a:pPr>
            <a:r>
              <a:t>• Explain authentication vs authorization.</a:t>
            </a:r>
          </a:p>
          <a:p>
            <a:pPr>
              <a:spcAft>
                <a:spcPts val="1000"/>
              </a:spcAft>
              <a:defRPr sz="1600">
                <a:solidFill>
                  <a:srgbClr val="0F172A"/>
                </a:solidFill>
              </a:defRPr>
            </a:pPr>
            <a:r>
              <a:t>• Explain campaign ownership and IDOR prevention.</a:t>
            </a:r>
          </a:p>
          <a:p>
            <a:pPr>
              <a:spcAft>
                <a:spcPts val="1000"/>
              </a:spcAft>
              <a:defRPr sz="1600">
                <a:solidFill>
                  <a:srgbClr val="0F172A"/>
                </a:solidFill>
              </a:defRPr>
            </a:pPr>
            <a:r>
              <a:t>• Explain PostgreSQL + Prisma + Zod choices.</a:t>
            </a:r>
          </a:p>
          <a:p>
            <a:pPr>
              <a:spcAft>
                <a:spcPts val="1000"/>
              </a:spcAft>
              <a:defRPr sz="1600">
                <a:solidFill>
                  <a:srgbClr val="0F172A"/>
                </a:solidFill>
              </a:defRPr>
            </a:pPr>
            <a:r>
              <a:t>• Explain useState and useEffect from your actual code.</a:t>
            </a:r>
          </a:p>
          <a:p>
            <a:pPr>
              <a:spcAft>
                <a:spcPts val="1000"/>
              </a:spcAft>
              <a:defRPr sz="1600">
                <a:solidFill>
                  <a:srgbClr val="0F172A"/>
                </a:solidFill>
              </a:defRPr>
            </a:pPr>
            <a:r>
              <a:t>• Name three production improvements and why they matter.</a:t>
            </a:r>
          </a:p>
          <a:p>
            <a:pPr>
              <a:spcAft>
                <a:spcPts val="1000"/>
              </a:spcAft>
              <a:defRPr sz="1600">
                <a:solidFill>
                  <a:srgbClr val="0F172A"/>
                </a:solidFill>
              </a:defRPr>
            </a:pPr>
            <a:r>
              <a:t>• Describe one real bug/challenge and how you solved it.</a:t>
            </a:r>
          </a:p>
          <a:p>
            <a:pPr>
              <a:spcAft>
                <a:spcPts val="1000"/>
              </a:spcAft>
              <a:defRPr sz="1600">
                <a:solidFill>
                  <a:srgbClr val="0F172A"/>
                </a:solidFill>
              </a:defRPr>
            </a:pPr>
            <a:r>
              <a:t>• Ask the interviewer one thoughtful question at the end.</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10515600" cy="914400"/>
          </a:xfrm>
          <a:prstGeom prst="rect">
            <a:avLst/>
          </a:prstGeom>
          <a:noFill/>
        </p:spPr>
        <p:txBody>
          <a:bodyPr wrap="none">
            <a:spAutoFit/>
          </a:bodyPr>
          <a:lstStyle/>
          <a:p>
            <a:pPr>
              <a:defRPr sz="3600" b="1">
                <a:solidFill>
                  <a:srgbClr val="FFFFFF"/>
                </a:solidFill>
              </a:defRPr>
            </a:pPr>
            <a:r>
              <a:t>You built more than a UI.</a:t>
            </a:r>
          </a:p>
        </p:txBody>
      </p:sp>
      <p:sp>
        <p:nvSpPr>
          <p:cNvPr id="4" name="TextBox 3"/>
          <p:cNvSpPr txBox="1"/>
          <p:nvPr/>
        </p:nvSpPr>
        <p:spPr>
          <a:xfrm>
            <a:off x="822960" y="2743200"/>
            <a:ext cx="10332720" cy="1463040"/>
          </a:xfrm>
          <a:prstGeom prst="rect">
            <a:avLst/>
          </a:prstGeom>
          <a:noFill/>
        </p:spPr>
        <p:txBody>
          <a:bodyPr wrap="none">
            <a:spAutoFit/>
          </a:bodyPr>
          <a:lstStyle/>
          <a:p>
            <a:pPr>
              <a:defRPr sz="2400">
                <a:solidFill>
                  <a:srgbClr val="CBD5E1"/>
                </a:solidFill>
              </a:defRPr>
            </a:pPr>
            <a:r>
              <a:t>Authentication → campaigns → AI → landing page → lead capture → analytics.</a:t>
            </a:r>
          </a:p>
        </p:txBody>
      </p:sp>
      <p:sp>
        <p:nvSpPr>
          <p:cNvPr id="5" name="TextBox 4"/>
          <p:cNvSpPr txBox="1"/>
          <p:nvPr/>
        </p:nvSpPr>
        <p:spPr>
          <a:xfrm>
            <a:off x="822960" y="4754880"/>
            <a:ext cx="10058400" cy="640080"/>
          </a:xfrm>
          <a:prstGeom prst="rect">
            <a:avLst/>
          </a:prstGeom>
          <a:noFill/>
        </p:spPr>
        <p:txBody>
          <a:bodyPr wrap="none">
            <a:spAutoFit/>
          </a:bodyPr>
          <a:lstStyle/>
          <a:p>
            <a:pPr>
              <a:defRPr sz="1700" b="1">
                <a:solidFill>
                  <a:srgbClr val="A5B4FC"/>
                </a:solidFill>
              </a:defRPr>
            </a:pPr>
            <a:r>
              <a:t>Now focus on explaining the engineering decisions clearly.</a:t>
            </a:r>
          </a:p>
        </p:txBody>
      </p:sp>
      <p:sp>
        <p:nvSpPr>
          <p:cNvPr id="6" name="TextBox 5"/>
          <p:cNvSpPr txBox="1"/>
          <p:nvPr/>
        </p:nvSpPr>
        <p:spPr>
          <a:xfrm>
            <a:off x="594360" y="6473952"/>
            <a:ext cx="10972800" cy="182880"/>
          </a:xfrm>
          <a:prstGeom prst="rect">
            <a:avLst/>
          </a:prstGeom>
          <a:noFill/>
        </p:spPr>
        <p:txBody>
          <a:bodyPr wrap="none">
            <a:spAutoFit/>
          </a:bodyPr>
          <a:lstStyle/>
          <a:p>
            <a:pPr>
              <a:defRPr sz="800">
                <a:solidFill>
                  <a:srgbClr val="94A3B8"/>
                </a:solidFill>
              </a:defRPr>
            </a:pPr>
            <a:r>
              <a:t>AI Campaign Studio • Interview &amp; Presentation Guide  |  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40080" y="502920"/>
            <a:ext cx="10972800" cy="640080"/>
          </a:xfrm>
          <a:prstGeom prst="rect">
            <a:avLst/>
          </a:prstGeom>
          <a:noFill/>
        </p:spPr>
        <p:txBody>
          <a:bodyPr wrap="none">
            <a:spAutoFit/>
          </a:bodyPr>
          <a:lstStyle/>
          <a:p>
            <a:pPr>
              <a:defRPr sz="2800" b="1">
                <a:solidFill>
                  <a:srgbClr val="FFFFFF"/>
                </a:solidFill>
              </a:defRPr>
            </a:pPr>
            <a:r>
              <a:t>Final Public &amp; Authentication Flow</a:t>
            </a:r>
          </a:p>
        </p:txBody>
      </p:sp>
      <p:sp>
        <p:nvSpPr>
          <p:cNvPr id="3" name="TextBox 2"/>
          <p:cNvSpPr txBox="1"/>
          <p:nvPr/>
        </p:nvSpPr>
        <p:spPr>
          <a:xfrm>
            <a:off x="822960" y="1417320"/>
            <a:ext cx="10515600" cy="4754880"/>
          </a:xfrm>
          <a:prstGeom prst="rect">
            <a:avLst/>
          </a:prstGeom>
          <a:noFill/>
        </p:spPr>
        <p:txBody>
          <a:bodyPr wrap="square">
            <a:spAutoFit/>
          </a:bodyPr>
          <a:lstStyle/>
          <a:p>
            <a:pPr>
              <a:spcAft>
                <a:spcPts val="1400"/>
              </a:spcAft>
              <a:defRPr sz="1800">
                <a:solidFill>
                  <a:srgbClr val="FFFFFF"/>
                </a:solidFill>
              </a:defRPr>
            </a:pPr>
            <a:r>
              <a:t>Public product landing page at `/` is the entry point for visitors.</a:t>
            </a:r>
          </a:p>
          <a:p>
            <a:pPr>
              <a:spcAft>
                <a:spcPts val="1400"/>
              </a:spcAft>
              <a:defRPr sz="1800">
                <a:solidFill>
                  <a:srgbClr val="FFFFFF"/>
                </a:solidFill>
              </a:defRPr>
            </a:pPr>
            <a:r>
              <a:t>Clear Sign Up and Login actions lead users into the authenticated application.</a:t>
            </a:r>
          </a:p>
          <a:p>
            <a:pPr>
              <a:spcAft>
                <a:spcPts val="1400"/>
              </a:spcAft>
              <a:defRPr sz="1800">
                <a:solidFill>
                  <a:srgbClr val="FFFFFF"/>
                </a:solidFill>
              </a:defRPr>
            </a:pPr>
            <a:r>
              <a:t>Sign Up creates an account and redirects to Login.</a:t>
            </a:r>
          </a:p>
          <a:p>
            <a:pPr>
              <a:spcAft>
                <a:spcPts val="1400"/>
              </a:spcAft>
              <a:defRPr sz="1800">
                <a:solidFill>
                  <a:srgbClr val="FFFFFF"/>
                </a:solidFill>
              </a:defRPr>
            </a:pPr>
            <a:r>
              <a:t>Login establishes the authenticated session and redirects to `/dashboard`.</a:t>
            </a:r>
          </a:p>
          <a:p>
            <a:pPr>
              <a:spcAft>
                <a:spcPts val="1400"/>
              </a:spcAft>
              <a:defRPr sz="1800">
                <a:solidFill>
                  <a:srgbClr val="FFFFFF"/>
                </a:solidFill>
              </a:defRPr>
            </a:pPr>
            <a:r>
              <a:t>Login and Sign Up pages use the same polished visual language as the landing page.</a:t>
            </a:r>
          </a:p>
        </p:txBody>
      </p:sp>
      <p:sp>
        <p:nvSpPr>
          <p:cNvPr id="4" name="TextBox 3"/>
          <p:cNvSpPr txBox="1"/>
          <p:nvPr/>
        </p:nvSpPr>
        <p:spPr>
          <a:xfrm>
            <a:off x="10789920" y="6446520"/>
            <a:ext cx="640080" cy="228600"/>
          </a:xfrm>
          <a:prstGeom prst="rect">
            <a:avLst/>
          </a:prstGeom>
          <a:noFill/>
        </p:spPr>
        <p:txBody>
          <a:bodyPr wrap="none">
            <a:spAutoFit/>
          </a:bodyPr>
          <a:lstStyle/>
          <a:p>
            <a:pPr algn="r">
              <a:defRPr sz="900">
                <a:solidFill>
                  <a:srgbClr val="94A3B8"/>
                </a:solidFill>
              </a:defRPr>
            </a:pPr>
            <a: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40080" y="502920"/>
            <a:ext cx="10972800" cy="640080"/>
          </a:xfrm>
          <a:prstGeom prst="rect">
            <a:avLst/>
          </a:prstGeom>
          <a:noFill/>
        </p:spPr>
        <p:txBody>
          <a:bodyPr wrap="none">
            <a:spAutoFit/>
          </a:bodyPr>
          <a:lstStyle/>
          <a:p>
            <a:pPr>
              <a:defRPr sz="2800" b="1">
                <a:solidFill>
                  <a:srgbClr val="FFFFFF"/>
                </a:solidFill>
              </a:defRPr>
            </a:pPr>
            <a:r>
              <a:t>Final Dashboard Structure</a:t>
            </a:r>
          </a:p>
        </p:txBody>
      </p:sp>
      <p:sp>
        <p:nvSpPr>
          <p:cNvPr id="3" name="TextBox 2"/>
          <p:cNvSpPr txBox="1"/>
          <p:nvPr/>
        </p:nvSpPr>
        <p:spPr>
          <a:xfrm>
            <a:off x="822960" y="1417320"/>
            <a:ext cx="10515600" cy="4754880"/>
          </a:xfrm>
          <a:prstGeom prst="rect">
            <a:avLst/>
          </a:prstGeom>
          <a:noFill/>
        </p:spPr>
        <p:txBody>
          <a:bodyPr wrap="square">
            <a:spAutoFit/>
          </a:bodyPr>
          <a:lstStyle/>
          <a:p>
            <a:pPr>
              <a:spcAft>
                <a:spcPts val="1400"/>
              </a:spcAft>
              <a:defRPr sz="1800">
                <a:solidFill>
                  <a:srgbClr val="FFFFFF"/>
                </a:solidFill>
              </a:defRPr>
            </a:pPr>
            <a:r>
              <a:t>Dashboard is organized into three main areas: Campaigns, Leads and Analytics.</a:t>
            </a:r>
          </a:p>
          <a:p>
            <a:pPr>
              <a:spcAft>
                <a:spcPts val="1400"/>
              </a:spcAft>
              <a:defRPr sz="1800">
                <a:solidFill>
                  <a:srgbClr val="FFFFFF"/>
                </a:solidFill>
              </a:defRPr>
            </a:pPr>
            <a:r>
              <a:t>Campaigns: create, edit, delete and generate/regenerate AI campaign content.</a:t>
            </a:r>
          </a:p>
          <a:p>
            <a:pPr>
              <a:spcAft>
                <a:spcPts val="1400"/>
              </a:spcAft>
              <a:defRPr sz="1800">
                <a:solidFill>
                  <a:srgbClr val="FFFFFF"/>
                </a:solidFill>
              </a:defRPr>
            </a:pPr>
            <a:r>
              <a:t>Leads: view leads captured from campaign-specific public landing pages.</a:t>
            </a:r>
          </a:p>
          <a:p>
            <a:pPr>
              <a:spcAft>
                <a:spcPts val="1400"/>
              </a:spcAft>
              <a:defRPr sz="1800">
                <a:solidFill>
                  <a:srgbClr val="FFFFFF"/>
                </a:solidFill>
              </a:defRPr>
            </a:pPr>
            <a:r>
              <a:t>Analytics: view campaign activity and lead-capture analytics.</a:t>
            </a:r>
          </a:p>
          <a:p>
            <a:pPr>
              <a:spcAft>
                <a:spcPts val="1400"/>
              </a:spcAft>
              <a:defRPr sz="1800">
                <a:solidFill>
                  <a:srgbClr val="FFFFFF"/>
                </a:solidFill>
              </a:defRPr>
            </a:pPr>
            <a:r>
              <a:t>Campaign cards can open the public `/campaign/[id]` landing page separately from the dashboard.</a:t>
            </a:r>
          </a:p>
        </p:txBody>
      </p:sp>
      <p:sp>
        <p:nvSpPr>
          <p:cNvPr id="4" name="TextBox 3"/>
          <p:cNvSpPr txBox="1"/>
          <p:nvPr/>
        </p:nvSpPr>
        <p:spPr>
          <a:xfrm>
            <a:off x="10789920" y="6446520"/>
            <a:ext cx="640080" cy="228600"/>
          </a:xfrm>
          <a:prstGeom prst="rect">
            <a:avLst/>
          </a:prstGeom>
          <a:noFill/>
        </p:spPr>
        <p:txBody>
          <a:bodyPr wrap="none">
            <a:spAutoFit/>
          </a:bodyPr>
          <a:lstStyle/>
          <a:p>
            <a:pPr algn="r">
              <a:defRPr sz="900">
                <a:solidFill>
                  <a:srgbClr val="94A3B8"/>
                </a:solidFill>
              </a:defRPr>
            </a:pPr>
            <a:r>
              <a:t>85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